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78" r:id="rId25"/>
    <p:sldId id="280" r:id="rId26"/>
    <p:sldId id="281" r:id="rId27"/>
    <p:sldId id="300" r:id="rId28"/>
    <p:sldId id="301" r:id="rId29"/>
    <p:sldId id="302" r:id="rId30"/>
    <p:sldId id="305" r:id="rId31"/>
    <p:sldId id="306" r:id="rId32"/>
    <p:sldId id="303" r:id="rId33"/>
    <p:sldId id="304" r:id="rId34"/>
    <p:sldId id="282" r:id="rId35"/>
    <p:sldId id="283" r:id="rId36"/>
    <p:sldId id="284" r:id="rId37"/>
    <p:sldId id="285" r:id="rId38"/>
    <p:sldId id="286" r:id="rId39"/>
    <p:sldId id="287" r:id="rId40"/>
    <p:sldId id="288" r:id="rId41"/>
    <p:sldId id="289" r:id="rId42"/>
    <p:sldId id="290" r:id="rId43"/>
    <p:sldId id="291" r:id="rId44"/>
    <p:sldId id="295" r:id="rId45"/>
    <p:sldId id="296" r:id="rId46"/>
    <p:sldId id="292" r:id="rId47"/>
    <p:sldId id="299" r:id="rId48"/>
    <p:sldId id="297" r:id="rId49"/>
    <p:sldId id="293" r:id="rId50"/>
    <p:sldId id="294"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47135" autoAdjust="0"/>
  </p:normalViewPr>
  <p:slideViewPr>
    <p:cSldViewPr snapToGrid="0">
      <p:cViewPr varScale="1">
        <p:scale>
          <a:sx n="54" d="100"/>
          <a:sy n="54" d="100"/>
        </p:scale>
        <p:origin x="250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746934-BE4B-40E8-A78F-5DE804D03023}"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AC6807-6896-408C-B89E-96114AB3F089}" type="slidenum">
              <a:rPr lang="en-US" smtClean="0"/>
              <a:t>‹#›</a:t>
            </a:fld>
            <a:endParaRPr lang="en-US"/>
          </a:p>
        </p:txBody>
      </p:sp>
    </p:spTree>
    <p:extLst>
      <p:ext uri="{BB962C8B-B14F-4D97-AF65-F5344CB8AC3E}">
        <p14:creationId xmlns:p14="http://schemas.microsoft.com/office/powerpoint/2010/main" val="2602612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prime, start at about 20 </a:t>
            </a:r>
            <a:r>
              <a:rPr lang="en-US"/>
              <a:t>minutes in</a:t>
            </a:r>
          </a:p>
        </p:txBody>
      </p:sp>
      <p:sp>
        <p:nvSpPr>
          <p:cNvPr id="4" name="Slide Number Placeholder 3"/>
          <p:cNvSpPr>
            <a:spLocks noGrp="1"/>
          </p:cNvSpPr>
          <p:nvPr>
            <p:ph type="sldNum" sz="quarter" idx="5"/>
          </p:nvPr>
        </p:nvSpPr>
        <p:spPr/>
        <p:txBody>
          <a:bodyPr/>
          <a:lstStyle/>
          <a:p>
            <a:fld id="{FDAC6807-6896-408C-B89E-96114AB3F089}" type="slidenum">
              <a:rPr lang="en-US" smtClean="0"/>
              <a:t>12</a:t>
            </a:fld>
            <a:endParaRPr lang="en-US"/>
          </a:p>
        </p:txBody>
      </p:sp>
    </p:spTree>
    <p:extLst>
      <p:ext uri="{BB962C8B-B14F-4D97-AF65-F5344CB8AC3E}">
        <p14:creationId xmlns:p14="http://schemas.microsoft.com/office/powerpoint/2010/main" val="1528153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16</a:t>
            </a:fld>
            <a:endParaRPr lang="en-US"/>
          </a:p>
        </p:txBody>
      </p:sp>
    </p:spTree>
    <p:extLst>
      <p:ext uri="{BB962C8B-B14F-4D97-AF65-F5344CB8AC3E}">
        <p14:creationId xmlns:p14="http://schemas.microsoft.com/office/powerpoint/2010/main" val="2394649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17</a:t>
            </a:fld>
            <a:endParaRPr lang="en-US"/>
          </a:p>
        </p:txBody>
      </p:sp>
    </p:spTree>
    <p:extLst>
      <p:ext uri="{BB962C8B-B14F-4D97-AF65-F5344CB8AC3E}">
        <p14:creationId xmlns:p14="http://schemas.microsoft.com/office/powerpoint/2010/main" val="2205987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18</a:t>
            </a:fld>
            <a:endParaRPr lang="en-US"/>
          </a:p>
        </p:txBody>
      </p:sp>
    </p:spTree>
    <p:extLst>
      <p:ext uri="{BB962C8B-B14F-4D97-AF65-F5344CB8AC3E}">
        <p14:creationId xmlns:p14="http://schemas.microsoft.com/office/powerpoint/2010/main" val="2164381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19</a:t>
            </a:fld>
            <a:endParaRPr lang="en-US"/>
          </a:p>
        </p:txBody>
      </p:sp>
    </p:spTree>
    <p:extLst>
      <p:ext uri="{BB962C8B-B14F-4D97-AF65-F5344CB8AC3E}">
        <p14:creationId xmlns:p14="http://schemas.microsoft.com/office/powerpoint/2010/main" val="1013964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20</a:t>
            </a:fld>
            <a:endParaRPr lang="en-US"/>
          </a:p>
        </p:txBody>
      </p:sp>
    </p:spTree>
    <p:extLst>
      <p:ext uri="{BB962C8B-B14F-4D97-AF65-F5344CB8AC3E}">
        <p14:creationId xmlns:p14="http://schemas.microsoft.com/office/powerpoint/2010/main" val="4092078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26</a:t>
            </a:fld>
            <a:endParaRPr lang="en-US"/>
          </a:p>
        </p:txBody>
      </p:sp>
    </p:spTree>
    <p:extLst>
      <p:ext uri="{BB962C8B-B14F-4D97-AF65-F5344CB8AC3E}">
        <p14:creationId xmlns:p14="http://schemas.microsoft.com/office/powerpoint/2010/main" val="1006231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 Title Slide</a:t>
            </a:r>
          </a:p>
          <a:p>
            <a:r>
              <a:rPr lang="en-US" b="1" dirty="0"/>
              <a:t>Title: "History of Islam: From the Death of Muhammad to the Abbasid Caliphate"</a:t>
            </a:r>
          </a:p>
          <a:p>
            <a:r>
              <a:rPr lang="en-US" dirty="0"/>
              <a:t>This title encapsulates the timeline and scope of our exploration, focusing on a pivotal era in Islamic history, where foundational political, religious, and cultural developments occurred.</a:t>
            </a:r>
          </a:p>
          <a:p>
            <a:r>
              <a:rPr lang="en-US" b="1" dirty="0"/>
              <a:t>Introduction</a:t>
            </a:r>
          </a:p>
          <a:p>
            <a:r>
              <a:rPr lang="en-US" b="1" dirty="0"/>
              <a:t>Background Context:</a:t>
            </a:r>
            <a:endParaRPr lang="en-US" dirty="0"/>
          </a:p>
          <a:p>
            <a:pPr lvl="1"/>
            <a:r>
              <a:rPr lang="en-US" dirty="0"/>
              <a:t>Islam originated in the Arabian Peninsula in the 7th century, with Muhammad as its prophet and leader. His death in 632 CE marked the end of direct prophetic guidance and the beginning of new challenges for the nascent Muslim community.</a:t>
            </a:r>
          </a:p>
          <a:p>
            <a:pPr lvl="1"/>
            <a:r>
              <a:rPr lang="en-US" dirty="0"/>
              <a:t>The subsequent period saw the establishment of the Caliphate, a leadership institution that combined religious and political authority, shaping Islamic governance and society.</a:t>
            </a:r>
          </a:p>
          <a:p>
            <a:r>
              <a:rPr lang="en-US" b="1" dirty="0"/>
              <a:t>Why This Period Matters:</a:t>
            </a:r>
            <a:endParaRPr lang="en-US" dirty="0"/>
          </a:p>
          <a:p>
            <a:pPr lvl="1"/>
            <a:r>
              <a:rPr lang="en-US" dirty="0"/>
              <a:t>The years following Muhammad's death were marked by rapid territorial expansion, internal power struggles, and the emergence of theological differences.</a:t>
            </a:r>
          </a:p>
          <a:p>
            <a:pPr lvl="1"/>
            <a:r>
              <a:rPr lang="en-US" dirty="0"/>
              <a:t>The development of institutions like the Caliphate and cultural achievements under the Abbasids laid the foundation for Islamic civilization’s lasting influence.</a:t>
            </a:r>
          </a:p>
          <a:p>
            <a:r>
              <a:rPr lang="en-US" b="1" dirty="0"/>
              <a:t>Key Focus</a:t>
            </a:r>
          </a:p>
          <a:p>
            <a:r>
              <a:rPr lang="en-US" b="1" dirty="0"/>
              <a:t>Understanding the Transition from Prophetic Leadership to Caliphal Rule:</a:t>
            </a:r>
            <a:endParaRPr lang="en-US" dirty="0"/>
          </a:p>
          <a:p>
            <a:pPr lvl="1"/>
            <a:r>
              <a:rPr lang="en-US" dirty="0"/>
              <a:t>Muhammad's role encompassed spiritual leadership, judicial authority, and political governance. His death created a leadership vacuum, leading to debates about succession.</a:t>
            </a:r>
          </a:p>
          <a:p>
            <a:pPr lvl="1"/>
            <a:r>
              <a:rPr lang="en-US" dirty="0"/>
              <a:t>The Caliphate was established to maintain unity and ensure the continued spread of Islam, evolving into a sophisticated institution.</a:t>
            </a:r>
          </a:p>
          <a:p>
            <a:r>
              <a:rPr lang="en-US" b="1" dirty="0"/>
              <a:t>Highlighting Key Eras:</a:t>
            </a:r>
            <a:endParaRPr lang="en-US" dirty="0"/>
          </a:p>
          <a:p>
            <a:pPr lvl="1"/>
            <a:r>
              <a:rPr lang="en-US" b="1" dirty="0"/>
              <a:t>Rightly Guided Caliphs (632–661):</a:t>
            </a:r>
            <a:r>
              <a:rPr lang="en-US" dirty="0"/>
              <a:t> The formative years when companions of the Prophet governed, solidifying Islamic rule and addressing early divisions.</a:t>
            </a:r>
          </a:p>
          <a:p>
            <a:pPr lvl="1"/>
            <a:r>
              <a:rPr lang="en-US" b="1" dirty="0"/>
              <a:t>Umayyad Dynasty (661–750):</a:t>
            </a:r>
            <a:r>
              <a:rPr lang="en-US" dirty="0"/>
              <a:t> Marked by imperial expansion and administrative centralization, but also by growing dissatisfaction and inequality.</a:t>
            </a:r>
          </a:p>
          <a:p>
            <a:pPr lvl="1"/>
            <a:r>
              <a:rPr lang="en-US" b="1" dirty="0"/>
              <a:t>Abbasid Caliphate (750–1258):</a:t>
            </a:r>
            <a:r>
              <a:rPr lang="en-US" dirty="0"/>
              <a:t> A golden age of culture, science, and scholarship, where Islamic civilization reached its zenith.</a:t>
            </a:r>
          </a:p>
          <a:p>
            <a:r>
              <a:rPr lang="en-US" b="1" dirty="0"/>
              <a:t>Talking Points</a:t>
            </a:r>
          </a:p>
          <a:p>
            <a:r>
              <a:rPr lang="en-US" b="1" dirty="0"/>
              <a:t>Islam’s Evolution:</a:t>
            </a:r>
            <a:endParaRPr lang="en-US" dirty="0"/>
          </a:p>
          <a:p>
            <a:pPr lvl="1"/>
            <a:r>
              <a:rPr lang="en-US" dirty="0"/>
              <a:t>Transition from a single religious community under Muhammad to a vast empire.</a:t>
            </a:r>
          </a:p>
          <a:p>
            <a:pPr lvl="1"/>
            <a:r>
              <a:rPr lang="en-US" dirty="0"/>
              <a:t>The interplay between religion and politics that defined early Islamic governance.</a:t>
            </a:r>
          </a:p>
          <a:p>
            <a:r>
              <a:rPr lang="en-US" b="1" dirty="0"/>
              <a:t>Division and Unity:</a:t>
            </a:r>
            <a:endParaRPr lang="en-US" dirty="0"/>
          </a:p>
          <a:p>
            <a:pPr lvl="1"/>
            <a:r>
              <a:rPr lang="en-US" dirty="0"/>
              <a:t>The emergence of theological schisms like Sunni and Shia, which began as political disputes over leadership but evolved into distinct sectarian identities.</a:t>
            </a:r>
          </a:p>
          <a:p>
            <a:pPr lvl="1"/>
            <a:r>
              <a:rPr lang="en-US" dirty="0"/>
              <a:t>Despite divisions, the shared religious framework and Sharia law created a unifying cultural and legal system.</a:t>
            </a:r>
          </a:p>
          <a:p>
            <a:r>
              <a:rPr lang="en-US" b="1" dirty="0"/>
              <a:t>Cultural and Historical Legacy:</a:t>
            </a:r>
            <a:endParaRPr lang="en-US" dirty="0"/>
          </a:p>
          <a:p>
            <a:pPr lvl="1"/>
            <a:r>
              <a:rPr lang="en-US" dirty="0"/>
              <a:t>This period shaped the intellectual, cultural, and spiritual trajectory of the Islamic world.</a:t>
            </a:r>
          </a:p>
          <a:p>
            <a:pPr lvl="1"/>
            <a:r>
              <a:rPr lang="en-US" dirty="0"/>
              <a:t>The Abbasids' patronage of arts and sciences left a lasting global legacy.</a:t>
            </a:r>
          </a:p>
          <a:p>
            <a:r>
              <a:rPr lang="en-US" b="1" dirty="0"/>
              <a:t>Suggestions for Engagement:</a:t>
            </a:r>
          </a:p>
          <a:p>
            <a:r>
              <a:rPr lang="en-US" b="1" dirty="0"/>
              <a:t>Ask Students:</a:t>
            </a:r>
            <a:r>
              <a:rPr lang="en-US" dirty="0"/>
              <a:t> Why do you think the transition from religious to political leadership is so challenging in any society? How do you see the intertwining of religion and governance reflected in modern states?</a:t>
            </a:r>
          </a:p>
          <a:p>
            <a:r>
              <a:rPr lang="en-US" b="1" dirty="0"/>
              <a:t>Activity Idea:</a:t>
            </a:r>
            <a:r>
              <a:rPr lang="en-US" dirty="0"/>
              <a:t> Create a timeline of leadership transitions discussed in the lecture to visualize continuity and change.</a:t>
            </a:r>
          </a:p>
          <a:p>
            <a:r>
              <a:rPr lang="en-US" dirty="0"/>
              <a:t>Let me know when you'd like to proceed to Slide 2!</a:t>
            </a:r>
          </a:p>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27</a:t>
            </a:fld>
            <a:endParaRPr lang="en-US"/>
          </a:p>
        </p:txBody>
      </p:sp>
    </p:spTree>
    <p:extLst>
      <p:ext uri="{BB962C8B-B14F-4D97-AF65-F5344CB8AC3E}">
        <p14:creationId xmlns:p14="http://schemas.microsoft.com/office/powerpoint/2010/main" val="3901411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After Muhammad's Death (632-661)</a:t>
            </a:r>
          </a:p>
          <a:p>
            <a:r>
              <a:rPr lang="en-US" b="1" dirty="0"/>
              <a:t>Crisis of Succession:</a:t>
            </a:r>
          </a:p>
          <a:p>
            <a:r>
              <a:rPr lang="en-US" b="1" dirty="0"/>
              <a:t>Background:</a:t>
            </a:r>
            <a:r>
              <a:rPr lang="en-US" dirty="0"/>
              <a:t> Muhammad did not name a successor, nor did he leave explicit instructions on how leadership should be determined. This created a leadership vacuum in the Muslim community, which combined political and religious authority.</a:t>
            </a:r>
          </a:p>
          <a:p>
            <a:r>
              <a:rPr lang="en-US" b="1" dirty="0"/>
              <a:t>Key Issue:</a:t>
            </a:r>
            <a:r>
              <a:rPr lang="en-US" dirty="0"/>
              <a:t> The absence of a succession plan led to debates over who should lead, with opinions divided between those advocating for familial leadership and others prioritizing the most capable companion.</a:t>
            </a:r>
          </a:p>
          <a:p>
            <a:r>
              <a:rPr lang="en-US" b="1" dirty="0"/>
              <a:t>Historical Significance:</a:t>
            </a:r>
            <a:r>
              <a:rPr lang="en-US" dirty="0"/>
              <a:t> This crisis set the stage for the eventual division between Sunni and Shia Islam, which persists to this day.</a:t>
            </a:r>
          </a:p>
          <a:p>
            <a:r>
              <a:rPr lang="en-US" b="1" dirty="0"/>
              <a:t>Division of Islam:</a:t>
            </a:r>
          </a:p>
          <a:p>
            <a:r>
              <a:rPr lang="en-US" b="1" dirty="0"/>
              <a:t>Shia (Shiites):</a:t>
            </a:r>
            <a:r>
              <a:rPr lang="en-US" dirty="0"/>
              <a:t> Believed leadership should remain within Muhammad’s family, specifically through his cousin and son-in-law, Ali ibn Abi Talib. They argued that Muhammad had designated Ali as his successor.</a:t>
            </a:r>
          </a:p>
          <a:p>
            <a:r>
              <a:rPr lang="en-US" b="1" dirty="0"/>
              <a:t>Sunni:</a:t>
            </a:r>
            <a:r>
              <a:rPr lang="en-US" dirty="0"/>
              <a:t> Believed that leadership should be based on the consensus of the Muslim community and not limited to Muhammad’s family. They supported selecting a leader from among Muhammad’s closest companions.</a:t>
            </a:r>
          </a:p>
          <a:p>
            <a:r>
              <a:rPr lang="en-US" b="1" dirty="0"/>
              <a:t>Impact:</a:t>
            </a:r>
            <a:r>
              <a:rPr lang="en-US" dirty="0"/>
              <a:t> These differing views on leadership evolved into theological and cultural differences, creating two distinct branches of Islam.</a:t>
            </a:r>
          </a:p>
          <a:p>
            <a:r>
              <a:rPr lang="en-US" b="1" dirty="0"/>
              <a:t>Caliphate Periods:</a:t>
            </a:r>
          </a:p>
          <a:p>
            <a:r>
              <a:rPr lang="en-US" b="1" dirty="0"/>
              <a:t>Rightly Guided Caliphs (632–661):</a:t>
            </a:r>
            <a:endParaRPr lang="en-US" dirty="0"/>
          </a:p>
          <a:p>
            <a:pPr lvl="1"/>
            <a:r>
              <a:rPr lang="en-US" dirty="0"/>
              <a:t>A formative period when close companions of Muhammad ruled. Their leadership was characterized by attempts to consolidate and expand the Muslim community.</a:t>
            </a:r>
          </a:p>
          <a:p>
            <a:pPr lvl="1"/>
            <a:r>
              <a:rPr lang="en-US" dirty="0"/>
              <a:t>Marked by internal conflicts, wars of apostasy, and the beginnings of administrative and religious structures.</a:t>
            </a:r>
          </a:p>
          <a:p>
            <a:r>
              <a:rPr lang="en-US" b="1" dirty="0"/>
              <a:t>Umayyad Dynasty (661–750):</a:t>
            </a:r>
            <a:endParaRPr lang="en-US" dirty="0"/>
          </a:p>
          <a:p>
            <a:pPr lvl="1"/>
            <a:r>
              <a:rPr lang="en-US" dirty="0"/>
              <a:t>Transitioned the leadership into a dynastic monarchy. Their era was defined by military conquests, administrative centralization, and tensions between Arab and non-Arab Muslims.</a:t>
            </a:r>
          </a:p>
          <a:p>
            <a:r>
              <a:rPr lang="en-US" b="1" dirty="0"/>
              <a:t>Abbasid Caliphate (750–1258):</a:t>
            </a:r>
            <a:endParaRPr lang="en-US" dirty="0"/>
          </a:p>
          <a:p>
            <a:pPr lvl="1"/>
            <a:r>
              <a:rPr lang="en-US" dirty="0"/>
              <a:t>Represented the cultural and intellectual zenith of the Islamic world. They embraced Persian influences, established Baghdad as a cultural hub, and nurtured advancements in science, philosophy, and literature.</a:t>
            </a:r>
          </a:p>
          <a:p>
            <a:r>
              <a:rPr lang="en-US" dirty="0"/>
              <a:t>Let me know when you're ready for Slide 3!</a:t>
            </a:r>
          </a:p>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28</a:t>
            </a:fld>
            <a:endParaRPr lang="en-US"/>
          </a:p>
        </p:txBody>
      </p:sp>
    </p:spTree>
    <p:extLst>
      <p:ext uri="{BB962C8B-B14F-4D97-AF65-F5344CB8AC3E}">
        <p14:creationId xmlns:p14="http://schemas.microsoft.com/office/powerpoint/2010/main" val="4294367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Rightly Guided Caliphs (632-661)</a:t>
            </a:r>
          </a:p>
          <a:p>
            <a:r>
              <a:rPr lang="en-US" b="1" dirty="0"/>
              <a:t>Abu Bakr:</a:t>
            </a:r>
          </a:p>
          <a:p>
            <a:r>
              <a:rPr lang="en-US" b="1" dirty="0"/>
              <a:t>Role:</a:t>
            </a:r>
            <a:r>
              <a:rPr lang="en-US" dirty="0"/>
              <a:t> First Caliph, chosen shortly after Muhammad’s death, was a close companion of the Prophet and highly respected among the Muslim community.</a:t>
            </a:r>
          </a:p>
          <a:p>
            <a:r>
              <a:rPr lang="en-US" b="1" dirty="0"/>
              <a:t>Leadership Achievements:</a:t>
            </a:r>
            <a:r>
              <a:rPr lang="en-US" dirty="0"/>
              <a:t> </a:t>
            </a:r>
          </a:p>
          <a:p>
            <a:pPr lvl="1"/>
            <a:r>
              <a:rPr lang="en-US" b="1" dirty="0"/>
              <a:t>Wars of Apostasy:</a:t>
            </a:r>
            <a:r>
              <a:rPr lang="en-US" dirty="0"/>
              <a:t> Faced revolts from tribes who renounced Islam after Muhammad’s death, leading to military campaigns to reunify the Arabian Peninsula under Islamic rule.</a:t>
            </a:r>
          </a:p>
          <a:p>
            <a:pPr lvl="1"/>
            <a:r>
              <a:rPr lang="en-US" b="1" dirty="0"/>
              <a:t>Consolidation:</a:t>
            </a:r>
            <a:r>
              <a:rPr lang="en-US" dirty="0"/>
              <a:t> Stabilized the young Muslim community, ensuring that Islamic practices and teachings remained unified.</a:t>
            </a:r>
          </a:p>
          <a:p>
            <a:r>
              <a:rPr lang="en-US" b="1" dirty="0"/>
              <a:t>Legacy:</a:t>
            </a:r>
            <a:r>
              <a:rPr lang="en-US" dirty="0"/>
              <a:t> His brief two-year rule laid the foundation for the administrative and military organization of the Muslim state.</a:t>
            </a:r>
          </a:p>
          <a:p>
            <a:r>
              <a:rPr lang="en-US" b="1" dirty="0"/>
              <a:t>Umar ibn al-Khattab:</a:t>
            </a:r>
          </a:p>
          <a:p>
            <a:r>
              <a:rPr lang="en-US" b="1" dirty="0"/>
              <a:t>Role:</a:t>
            </a:r>
            <a:r>
              <a:rPr lang="en-US" dirty="0"/>
              <a:t> Second Caliph, known for his strong leadership and significant territorial expansions.</a:t>
            </a:r>
          </a:p>
          <a:p>
            <a:r>
              <a:rPr lang="en-US" b="1" dirty="0"/>
              <a:t>Leadership Achievements:</a:t>
            </a:r>
            <a:r>
              <a:rPr lang="en-US" dirty="0"/>
              <a:t> </a:t>
            </a:r>
          </a:p>
          <a:p>
            <a:pPr lvl="1"/>
            <a:r>
              <a:rPr lang="en-US" b="1" dirty="0"/>
              <a:t>Military Expansion:</a:t>
            </a:r>
            <a:r>
              <a:rPr lang="en-US" dirty="0"/>
              <a:t> Initiated campaigns that extended Muslim rule into Syria, Egypt, and Persia, establishing Islam as a major political power.</a:t>
            </a:r>
          </a:p>
          <a:p>
            <a:pPr lvl="1"/>
            <a:r>
              <a:rPr lang="en-US" b="1" dirty="0"/>
              <a:t>Governance:</a:t>
            </a:r>
            <a:r>
              <a:rPr lang="en-US" dirty="0"/>
              <a:t> Introduced administrative reforms, including a process for selecting future caliphs through a council, which helped structure early Islamic governance.</a:t>
            </a:r>
          </a:p>
          <a:p>
            <a:r>
              <a:rPr lang="en-US" b="1" dirty="0"/>
              <a:t>Title:</a:t>
            </a:r>
            <a:r>
              <a:rPr lang="en-US" dirty="0"/>
              <a:t> Added “Commander of the Faithful” to emphasize the Caliph's dual religious and political authority.</a:t>
            </a:r>
          </a:p>
          <a:p>
            <a:r>
              <a:rPr lang="en-US" b="1" dirty="0"/>
              <a:t>Uthman ibn </a:t>
            </a:r>
            <a:r>
              <a:rPr lang="en-US" b="1" dirty="0" err="1"/>
              <a:t>Affan</a:t>
            </a:r>
            <a:r>
              <a:rPr lang="en-US" b="1" dirty="0"/>
              <a:t>:</a:t>
            </a:r>
          </a:p>
          <a:p>
            <a:r>
              <a:rPr lang="en-US" b="1" dirty="0"/>
              <a:t>Role:</a:t>
            </a:r>
            <a:r>
              <a:rPr lang="en-US" dirty="0"/>
              <a:t> Third Caliph, from the powerful Umayyad clan, which caused discontent among some factions within the Muslim community.</a:t>
            </a:r>
          </a:p>
          <a:p>
            <a:r>
              <a:rPr lang="en-US" b="1" dirty="0"/>
              <a:t>Leadership Achievements:</a:t>
            </a:r>
            <a:r>
              <a:rPr lang="en-US" dirty="0"/>
              <a:t> </a:t>
            </a:r>
          </a:p>
          <a:p>
            <a:pPr lvl="1"/>
            <a:r>
              <a:rPr lang="en-US" b="1" dirty="0"/>
              <a:t>Standardization of the Quran:</a:t>
            </a:r>
            <a:r>
              <a:rPr lang="en-US" dirty="0"/>
              <a:t> Commissioned an official version of the Quran, ensuring consistency in Islamic teachings and preventing sectarian disputes over its content.</a:t>
            </a:r>
          </a:p>
          <a:p>
            <a:pPr lvl="1"/>
            <a:r>
              <a:rPr lang="en-US" b="1" dirty="0"/>
              <a:t>Challenges:</a:t>
            </a:r>
            <a:r>
              <a:rPr lang="en-US" dirty="0"/>
              <a:t> His rule faced growing opposition due to perceptions of favoritism toward his Umayyad relatives.</a:t>
            </a:r>
          </a:p>
          <a:p>
            <a:r>
              <a:rPr lang="en-US" b="1" dirty="0"/>
              <a:t>Assassination:</a:t>
            </a:r>
            <a:r>
              <a:rPr lang="en-US" dirty="0"/>
              <a:t> His death in 656 triggered widespread unrest and set the stage for internal divisions within the Muslim community.</a:t>
            </a:r>
          </a:p>
          <a:p>
            <a:r>
              <a:rPr lang="en-US" b="1" dirty="0"/>
              <a:t>Ali ibn Abi Talib:</a:t>
            </a:r>
          </a:p>
          <a:p>
            <a:r>
              <a:rPr lang="en-US" b="1" dirty="0"/>
              <a:t>Role:</a:t>
            </a:r>
            <a:r>
              <a:rPr lang="en-US" dirty="0"/>
              <a:t> Fourth Caliph, cousin, and son-in-law of Muhammad, and a central figure in early Islamic history.</a:t>
            </a:r>
          </a:p>
          <a:p>
            <a:r>
              <a:rPr lang="en-US" b="1" dirty="0"/>
              <a:t>Leadership Achievements:</a:t>
            </a:r>
            <a:r>
              <a:rPr lang="en-US" dirty="0"/>
              <a:t> </a:t>
            </a:r>
          </a:p>
          <a:p>
            <a:pPr lvl="1"/>
            <a:r>
              <a:rPr lang="en-US" b="1" dirty="0"/>
              <a:t>Civil Wars:</a:t>
            </a:r>
            <a:r>
              <a:rPr lang="en-US" dirty="0"/>
              <a:t> His rule was marked by internal strife, including the Battle of the Camel (against Muhammad’s widow, Aisha) and conflicts with </a:t>
            </a:r>
            <a:r>
              <a:rPr lang="en-US" dirty="0" err="1"/>
              <a:t>Muawiyah</a:t>
            </a:r>
            <a:r>
              <a:rPr lang="en-US" dirty="0"/>
              <a:t>, governor of Syria.</a:t>
            </a:r>
          </a:p>
          <a:p>
            <a:pPr lvl="1"/>
            <a:r>
              <a:rPr lang="en-US" b="1" dirty="0"/>
              <a:t>Shia Support:</a:t>
            </a:r>
            <a:r>
              <a:rPr lang="en-US" dirty="0"/>
              <a:t> Many of his followers believed he was Muhammad’s rightful successor, leading to the formal division between Sunni and Shia Muslims.</a:t>
            </a:r>
          </a:p>
          <a:p>
            <a:r>
              <a:rPr lang="en-US" b="1" dirty="0"/>
              <a:t>Assassination:</a:t>
            </a:r>
            <a:r>
              <a:rPr lang="en-US" dirty="0"/>
              <a:t> Ali’s death in 661 ended the era of the Rightly Guided Caliphs, ushering in the Umayyad Dynasty.</a:t>
            </a:r>
          </a:p>
          <a:p>
            <a:r>
              <a:rPr lang="en-US" dirty="0"/>
              <a:t>Let me know when you'd like to proceed to Slide 4!</a:t>
            </a:r>
          </a:p>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29</a:t>
            </a:fld>
            <a:endParaRPr lang="en-US"/>
          </a:p>
        </p:txBody>
      </p:sp>
    </p:spTree>
    <p:extLst>
      <p:ext uri="{BB962C8B-B14F-4D97-AF65-F5344CB8AC3E}">
        <p14:creationId xmlns:p14="http://schemas.microsoft.com/office/powerpoint/2010/main" val="928204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Rightly Guided Caliphs (632-661)</a:t>
            </a:r>
          </a:p>
          <a:p>
            <a:r>
              <a:rPr lang="en-US" b="1" dirty="0"/>
              <a:t>Uthman ibn </a:t>
            </a:r>
            <a:r>
              <a:rPr lang="en-US" b="1" dirty="0" err="1"/>
              <a:t>Affan</a:t>
            </a:r>
            <a:r>
              <a:rPr lang="en-US" b="1" dirty="0"/>
              <a:t>:</a:t>
            </a:r>
          </a:p>
          <a:p>
            <a:r>
              <a:rPr lang="en-US" b="1" dirty="0"/>
              <a:t>Role:</a:t>
            </a:r>
            <a:r>
              <a:rPr lang="en-US" dirty="0"/>
              <a:t> Third Caliph, from the powerful Umayyad clan, which caused discontent among some factions within the Muslim community.</a:t>
            </a:r>
          </a:p>
          <a:p>
            <a:r>
              <a:rPr lang="en-US" b="1" dirty="0"/>
              <a:t>Leadership Achievements:</a:t>
            </a:r>
            <a:r>
              <a:rPr lang="en-US" dirty="0"/>
              <a:t> </a:t>
            </a:r>
          </a:p>
          <a:p>
            <a:pPr lvl="1"/>
            <a:r>
              <a:rPr lang="en-US" b="1" dirty="0"/>
              <a:t>Standardization of the Quran:</a:t>
            </a:r>
            <a:r>
              <a:rPr lang="en-US" dirty="0"/>
              <a:t> Commissioned an official version of the Quran, ensuring consistency in Islamic teachings and preventing sectarian disputes over its content.</a:t>
            </a:r>
          </a:p>
          <a:p>
            <a:pPr lvl="1"/>
            <a:r>
              <a:rPr lang="en-US" b="1" dirty="0"/>
              <a:t>Challenges:</a:t>
            </a:r>
            <a:r>
              <a:rPr lang="en-US" dirty="0"/>
              <a:t> His rule faced growing opposition due to perceptions of favoritism toward his Umayyad relatives.</a:t>
            </a:r>
          </a:p>
          <a:p>
            <a:r>
              <a:rPr lang="en-US" b="1" dirty="0"/>
              <a:t>Assassination:</a:t>
            </a:r>
            <a:r>
              <a:rPr lang="en-US" dirty="0"/>
              <a:t> His death in 656 triggered widespread unrest and set the stage for internal divisions within the Muslim community.</a:t>
            </a:r>
          </a:p>
          <a:p>
            <a:r>
              <a:rPr lang="en-US" b="1" dirty="0"/>
              <a:t>Ali ibn Abi Talib:</a:t>
            </a:r>
          </a:p>
          <a:p>
            <a:r>
              <a:rPr lang="en-US" b="1" dirty="0"/>
              <a:t>Role:</a:t>
            </a:r>
            <a:r>
              <a:rPr lang="en-US" dirty="0"/>
              <a:t> Fourth Caliph, cousin, and son-in-law of Muhammad, and a central figure in early Islamic history.</a:t>
            </a:r>
          </a:p>
          <a:p>
            <a:r>
              <a:rPr lang="en-US" b="1" dirty="0"/>
              <a:t>Leadership Achievements:</a:t>
            </a:r>
            <a:r>
              <a:rPr lang="en-US" dirty="0"/>
              <a:t> </a:t>
            </a:r>
          </a:p>
          <a:p>
            <a:pPr lvl="1"/>
            <a:r>
              <a:rPr lang="en-US" b="1" dirty="0"/>
              <a:t>Civil Wars:</a:t>
            </a:r>
            <a:r>
              <a:rPr lang="en-US" dirty="0"/>
              <a:t> His rule was marked by internal strife, including the Battle of the Camel (against Muhammad’s widow, Aisha) and conflicts with </a:t>
            </a:r>
            <a:r>
              <a:rPr lang="en-US" dirty="0" err="1"/>
              <a:t>Muawiyah</a:t>
            </a:r>
            <a:r>
              <a:rPr lang="en-US" dirty="0"/>
              <a:t>, governor of Syria.</a:t>
            </a:r>
          </a:p>
          <a:p>
            <a:pPr lvl="1"/>
            <a:r>
              <a:rPr lang="en-US" b="1" dirty="0"/>
              <a:t>Shia Support:</a:t>
            </a:r>
            <a:r>
              <a:rPr lang="en-US" dirty="0"/>
              <a:t> Many of his followers believed he was Muhammad’s rightful successor, leading to the formal division between Sunni and Shia Muslims.</a:t>
            </a:r>
          </a:p>
          <a:p>
            <a:r>
              <a:rPr lang="en-US" b="1" dirty="0"/>
              <a:t>Assassination:</a:t>
            </a:r>
            <a:r>
              <a:rPr lang="en-US" dirty="0"/>
              <a:t> Ali’s death in 661 ended the era of the Rightly Guided Caliphs, ushering in the Umayyad Dynasty.</a:t>
            </a:r>
          </a:p>
          <a:p>
            <a:r>
              <a:rPr lang="en-US" dirty="0"/>
              <a:t>Let me know when you'd like to proceed to Slide 4!</a:t>
            </a:r>
          </a:p>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30</a:t>
            </a:fld>
            <a:endParaRPr lang="en-US"/>
          </a:p>
        </p:txBody>
      </p:sp>
    </p:spTree>
    <p:extLst>
      <p:ext uri="{BB962C8B-B14F-4D97-AF65-F5344CB8AC3E}">
        <p14:creationId xmlns:p14="http://schemas.microsoft.com/office/powerpoint/2010/main" val="106202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Transition from Rightly Guided Caliphs to the Umayyad Dynasty</a:t>
            </a:r>
          </a:p>
          <a:p>
            <a:r>
              <a:rPr lang="en-US" b="1" dirty="0"/>
              <a:t>The End of the Rightly Guided Caliphate</a:t>
            </a:r>
          </a:p>
          <a:p>
            <a:r>
              <a:rPr lang="en-US" b="1" dirty="0"/>
              <a:t>Ali ibn Abi Talib's Leadership (656–661):</a:t>
            </a:r>
            <a:r>
              <a:rPr lang="en-US" dirty="0"/>
              <a:t> </a:t>
            </a:r>
          </a:p>
          <a:p>
            <a:pPr lvl="1"/>
            <a:r>
              <a:rPr lang="en-US" dirty="0"/>
              <a:t>Ali, the fourth and final of the Rightly Guided Caliphs, faced significant opposition during his reign.</a:t>
            </a:r>
          </a:p>
          <a:p>
            <a:pPr lvl="1"/>
            <a:r>
              <a:rPr lang="en-US" b="1" dirty="0"/>
              <a:t>Key Conflicts:</a:t>
            </a:r>
            <a:r>
              <a:rPr lang="en-US" dirty="0"/>
              <a:t> </a:t>
            </a:r>
          </a:p>
          <a:p>
            <a:pPr lvl="2"/>
            <a:r>
              <a:rPr lang="en-US" b="1" dirty="0"/>
              <a:t>First Civil War (Battle of the Camel, 656):</a:t>
            </a:r>
            <a:r>
              <a:rPr lang="en-US" dirty="0"/>
              <a:t> Fought against forces led by Aisha, Muhammad’s widow, accusing Ali of failing to punish Uthman’s assassins.</a:t>
            </a:r>
          </a:p>
          <a:p>
            <a:pPr lvl="2"/>
            <a:r>
              <a:rPr lang="en-US" b="1" dirty="0"/>
              <a:t>Second Civil War (656–661):</a:t>
            </a:r>
            <a:r>
              <a:rPr lang="en-US" dirty="0"/>
              <a:t> Fought against </a:t>
            </a:r>
            <a:r>
              <a:rPr lang="en-US" dirty="0" err="1"/>
              <a:t>Muawiyah</a:t>
            </a:r>
            <a:r>
              <a:rPr lang="en-US" dirty="0"/>
              <a:t>, governor of Syria and a relative of Uthman. Ali’s failure to fully defeat </a:t>
            </a:r>
            <a:r>
              <a:rPr lang="en-US" dirty="0" err="1"/>
              <a:t>Muawiyah</a:t>
            </a:r>
            <a:r>
              <a:rPr lang="en-US" dirty="0"/>
              <a:t> led to further divisions.</a:t>
            </a:r>
          </a:p>
          <a:p>
            <a:pPr lvl="1"/>
            <a:r>
              <a:rPr lang="en-US" b="1" dirty="0"/>
              <a:t>Assassination of Ali (661):</a:t>
            </a:r>
            <a:r>
              <a:rPr lang="en-US" dirty="0"/>
              <a:t> </a:t>
            </a:r>
          </a:p>
          <a:p>
            <a:pPr lvl="2"/>
            <a:r>
              <a:rPr lang="en-US" dirty="0"/>
              <a:t>Ali was assassinated by the Kharijites, a radical group dissatisfied with his leadership. This marked the end of the Rightly Guided Caliphate and ushered in a new era of Islamic governance.</a:t>
            </a:r>
          </a:p>
          <a:p>
            <a:r>
              <a:rPr lang="en-US" b="1" dirty="0"/>
              <a:t>The Rise of </a:t>
            </a:r>
            <a:r>
              <a:rPr lang="en-US" b="1" dirty="0" err="1"/>
              <a:t>Muawiyah</a:t>
            </a:r>
            <a:r>
              <a:rPr lang="en-US" b="1" dirty="0"/>
              <a:t> and the Founding of the Umayyad Dynasty</a:t>
            </a:r>
          </a:p>
          <a:p>
            <a:r>
              <a:rPr lang="en-US" b="1" dirty="0" err="1"/>
              <a:t>Muawiyah</a:t>
            </a:r>
            <a:r>
              <a:rPr lang="en-US" b="1" dirty="0"/>
              <a:t> I’s Ascension (661):</a:t>
            </a:r>
            <a:endParaRPr lang="en-US" dirty="0"/>
          </a:p>
          <a:p>
            <a:pPr lvl="1"/>
            <a:r>
              <a:rPr lang="en-US" dirty="0"/>
              <a:t>After Ali’s death, </a:t>
            </a:r>
            <a:r>
              <a:rPr lang="en-US" dirty="0" err="1"/>
              <a:t>Muawiyah</a:t>
            </a:r>
            <a:r>
              <a:rPr lang="en-US" dirty="0"/>
              <a:t>, governor of Syria and a member of the powerful Umayyad clan, claimed leadership.</a:t>
            </a:r>
          </a:p>
          <a:p>
            <a:pPr lvl="1"/>
            <a:r>
              <a:rPr lang="en-US" b="1" dirty="0"/>
              <a:t>Significance of </a:t>
            </a:r>
            <a:r>
              <a:rPr lang="en-US" b="1" dirty="0" err="1"/>
              <a:t>Muawiyah's</a:t>
            </a:r>
            <a:r>
              <a:rPr lang="en-US" b="1" dirty="0"/>
              <a:t> Rule:</a:t>
            </a:r>
            <a:r>
              <a:rPr lang="en-US" dirty="0"/>
              <a:t> </a:t>
            </a:r>
          </a:p>
          <a:p>
            <a:pPr lvl="2"/>
            <a:r>
              <a:rPr lang="en-US" dirty="0"/>
              <a:t>He negotiated with Hasan ibn Ali, Ali’s son and the Prophet’s grandson, to abdicate in exchange for peace and a promised return to elective leadership. However, </a:t>
            </a:r>
            <a:r>
              <a:rPr lang="en-US" dirty="0" err="1"/>
              <a:t>Muawiyah</a:t>
            </a:r>
            <a:r>
              <a:rPr lang="en-US" dirty="0"/>
              <a:t> established hereditary succession, breaking from this agreement.</a:t>
            </a:r>
          </a:p>
          <a:p>
            <a:r>
              <a:rPr lang="en-US" b="1" dirty="0"/>
              <a:t>Reasons for Umayyad Dominance:</a:t>
            </a:r>
            <a:endParaRPr lang="en-US" dirty="0"/>
          </a:p>
          <a:p>
            <a:pPr lvl="1"/>
            <a:r>
              <a:rPr lang="en-US" b="1" dirty="0"/>
              <a:t>Strategic Power Base:</a:t>
            </a:r>
            <a:r>
              <a:rPr lang="en-US" dirty="0"/>
              <a:t> As governor of Syria, </a:t>
            </a:r>
            <a:r>
              <a:rPr lang="en-US" dirty="0" err="1"/>
              <a:t>Muawiyah</a:t>
            </a:r>
            <a:r>
              <a:rPr lang="en-US" dirty="0"/>
              <a:t> had consolidated military and political control over a key region.</a:t>
            </a:r>
          </a:p>
          <a:p>
            <a:pPr lvl="1"/>
            <a:r>
              <a:rPr lang="en-US" b="1" dirty="0"/>
              <a:t>Support from Tribal Alliances:</a:t>
            </a:r>
            <a:r>
              <a:rPr lang="en-US" dirty="0"/>
              <a:t> The Umayyads, one of the most influential clans in Mecca, leveraged their tribal networks to gain widespread support.</a:t>
            </a:r>
          </a:p>
          <a:p>
            <a:pPr lvl="1"/>
            <a:r>
              <a:rPr lang="en-US" b="1" dirty="0"/>
              <a:t>Experience in Governance:</a:t>
            </a:r>
            <a:r>
              <a:rPr lang="en-US" dirty="0"/>
              <a:t> </a:t>
            </a:r>
            <a:r>
              <a:rPr lang="en-US" dirty="0" err="1"/>
              <a:t>Muawiyah</a:t>
            </a:r>
            <a:r>
              <a:rPr lang="en-US" dirty="0"/>
              <a:t> was a capable administrator, having effectively ruled Syria for decades.</a:t>
            </a:r>
          </a:p>
          <a:p>
            <a:r>
              <a:rPr lang="en-US" b="1" dirty="0"/>
              <a:t>Key Features of the Transition</a:t>
            </a:r>
          </a:p>
          <a:p>
            <a:r>
              <a:rPr lang="en-US" b="1" dirty="0"/>
              <a:t>Shift from Religious to Dynastic Rule:</a:t>
            </a:r>
            <a:endParaRPr lang="en-US" dirty="0"/>
          </a:p>
          <a:p>
            <a:pPr lvl="1"/>
            <a:r>
              <a:rPr lang="en-US" dirty="0"/>
              <a:t>The transition marked the end of the consultative, community-focused leadership of the Rightly Guided Caliphs.</a:t>
            </a:r>
          </a:p>
          <a:p>
            <a:pPr lvl="1"/>
            <a:r>
              <a:rPr lang="en-US" dirty="0"/>
              <a:t>The Caliphate became a hereditary monarchy under Umayyad control, focusing on political power and territorial expansion.</a:t>
            </a:r>
          </a:p>
          <a:p>
            <a:pPr lvl="1"/>
            <a:r>
              <a:rPr lang="en-US" dirty="0"/>
              <a:t>The spiritual authority of the Caliphate diminished, with increasing power given to local religious leaders (ulema).</a:t>
            </a:r>
          </a:p>
          <a:p>
            <a:r>
              <a:rPr lang="en-US" b="1" dirty="0"/>
              <a:t>Capital Relocation to Damascus:</a:t>
            </a:r>
            <a:endParaRPr lang="en-US" dirty="0"/>
          </a:p>
          <a:p>
            <a:pPr lvl="1"/>
            <a:r>
              <a:rPr lang="en-US" dirty="0"/>
              <a:t>By moving the capital from Medina to Damascus, </a:t>
            </a:r>
            <a:r>
              <a:rPr lang="en-US" dirty="0" err="1"/>
              <a:t>Muawiyah</a:t>
            </a:r>
            <a:r>
              <a:rPr lang="en-US" dirty="0"/>
              <a:t> signaled a shift away from the traditional centers of Islamic faith toward a more politically strategic location.</a:t>
            </a:r>
          </a:p>
          <a:p>
            <a:pPr lvl="1"/>
            <a:r>
              <a:rPr lang="en-US" dirty="0"/>
              <a:t>Damascus allowed for closer oversight of the empire’s expanding territories and administrative resources.</a:t>
            </a:r>
          </a:p>
          <a:p>
            <a:r>
              <a:rPr lang="en-US" b="1" dirty="0"/>
              <a:t>Emergence of the Sunni-Shia Divide:</a:t>
            </a:r>
            <a:endParaRPr lang="en-US" dirty="0"/>
          </a:p>
          <a:p>
            <a:pPr lvl="1"/>
            <a:r>
              <a:rPr lang="en-US" dirty="0"/>
              <a:t>The rise of the Umayyads exacerbated tensions between the Sunni majority, who accepted </a:t>
            </a:r>
            <a:r>
              <a:rPr lang="en-US" dirty="0" err="1"/>
              <a:t>Muawiyah’s</a:t>
            </a:r>
            <a:r>
              <a:rPr lang="en-US" dirty="0"/>
              <a:t> rule, and the Shia minority, who believed that only descendants of Muhammad (through Ali and Fatimah) were the rightful leaders.</a:t>
            </a:r>
          </a:p>
          <a:p>
            <a:pPr lvl="1"/>
            <a:r>
              <a:rPr lang="en-US" dirty="0"/>
              <a:t>This division, rooted in the events of this transition, remains one of the most significant splits in Islamic history.</a:t>
            </a:r>
          </a:p>
          <a:p>
            <a:r>
              <a:rPr lang="en-US" b="1" dirty="0"/>
              <a:t>Early Challenges for the Umayyad Dynasty</a:t>
            </a:r>
          </a:p>
          <a:p>
            <a:r>
              <a:rPr lang="en-US" b="1" dirty="0"/>
              <a:t>Maintaining Unity:</a:t>
            </a:r>
            <a:r>
              <a:rPr lang="en-US" dirty="0"/>
              <a:t> The Umayyads had to balance governing a rapidly growing empire with the dissatisfaction of many Muslims who felt the dynasty had strayed from Islamic ideals.</a:t>
            </a:r>
          </a:p>
          <a:p>
            <a:r>
              <a:rPr lang="en-US" b="1" dirty="0"/>
              <a:t>Opposition from the Kharijites:</a:t>
            </a:r>
            <a:r>
              <a:rPr lang="en-US" dirty="0"/>
              <a:t> Radical Islamic groups like the Kharijites rejected both Ali’s and </a:t>
            </a:r>
            <a:r>
              <a:rPr lang="en-US" dirty="0" err="1"/>
              <a:t>Muawiyah’s</a:t>
            </a:r>
            <a:r>
              <a:rPr lang="en-US" dirty="0"/>
              <a:t> leadership, challenging Umayyad authority.</a:t>
            </a:r>
          </a:p>
          <a:p>
            <a:r>
              <a:rPr lang="en-US" b="1" dirty="0"/>
              <a:t>Criticism of Hereditary Succession:</a:t>
            </a:r>
            <a:r>
              <a:rPr lang="en-US" dirty="0"/>
              <a:t> Many viewed hereditary rule as a betrayal of the egalitarian and consultative principles of early Islam.</a:t>
            </a:r>
          </a:p>
          <a:p>
            <a:r>
              <a:rPr lang="en-US" b="1" dirty="0"/>
              <a:t>Consolidation of Power</a:t>
            </a:r>
          </a:p>
          <a:p>
            <a:r>
              <a:rPr lang="en-US" b="1" dirty="0" err="1"/>
              <a:t>Muawiyah’s</a:t>
            </a:r>
            <a:r>
              <a:rPr lang="en-US" b="1" dirty="0"/>
              <a:t> Diplomatic Skill:</a:t>
            </a:r>
            <a:r>
              <a:rPr lang="en-US" dirty="0"/>
              <a:t> </a:t>
            </a:r>
          </a:p>
          <a:p>
            <a:pPr lvl="1"/>
            <a:r>
              <a:rPr lang="en-US" dirty="0"/>
              <a:t>He managed to bring stability to a divided Muslim community by emphasizing unity and ensuring loyalty from provincial governors and military commanders.</a:t>
            </a:r>
          </a:p>
          <a:p>
            <a:r>
              <a:rPr lang="en-US" b="1" dirty="0"/>
              <a:t>Institutional Development:</a:t>
            </a:r>
            <a:r>
              <a:rPr lang="en-US" dirty="0"/>
              <a:t> </a:t>
            </a:r>
          </a:p>
          <a:p>
            <a:pPr lvl="1"/>
            <a:r>
              <a:rPr lang="en-US" dirty="0"/>
              <a:t>Introduced systematic taxation and administration, modeled in part on Byzantine and Persian practices.</a:t>
            </a:r>
          </a:p>
          <a:p>
            <a:pPr lvl="1"/>
            <a:r>
              <a:rPr lang="en-US" dirty="0"/>
              <a:t>Strengthened the military to support further expansion and suppress internal dissent.</a:t>
            </a:r>
          </a:p>
          <a:p>
            <a:r>
              <a:rPr lang="en-US" dirty="0"/>
              <a:t>This period represents a crucial turning point in Islamic history, shifting from the early ideals of a religiously led community to the pragmatism of empire-building under dynastic rule. Let me know if you'd like to explore further details!</a:t>
            </a:r>
          </a:p>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31</a:t>
            </a:fld>
            <a:endParaRPr lang="en-US"/>
          </a:p>
        </p:txBody>
      </p:sp>
    </p:spTree>
    <p:extLst>
      <p:ext uri="{BB962C8B-B14F-4D97-AF65-F5344CB8AC3E}">
        <p14:creationId xmlns:p14="http://schemas.microsoft.com/office/powerpoint/2010/main" val="3206698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endParaRPr lang="en-US" b="1" dirty="0"/>
          </a:p>
          <a:p>
            <a:endParaRPr lang="en-US" b="1" dirty="0"/>
          </a:p>
          <a:p>
            <a:r>
              <a:rPr lang="en-US" b="1" dirty="0"/>
              <a:t>Slide 4: Umayyad Dynasty (661–750)</a:t>
            </a:r>
          </a:p>
          <a:p>
            <a:r>
              <a:rPr lang="en-US" b="1" dirty="0"/>
              <a:t>Capital at Damascus:</a:t>
            </a:r>
          </a:p>
          <a:p>
            <a:r>
              <a:rPr lang="en-US" b="1" dirty="0"/>
              <a:t>Historical Shift:</a:t>
            </a:r>
            <a:r>
              <a:rPr lang="en-US" dirty="0"/>
              <a:t> The relocation of the capital from Medina to Damascus marked a transition from the early Islamic period to a more centralized imperial rule.</a:t>
            </a:r>
          </a:p>
          <a:p>
            <a:r>
              <a:rPr lang="en-US" b="1" dirty="0"/>
              <a:t>Significance:</a:t>
            </a:r>
            <a:r>
              <a:rPr lang="en-US" dirty="0"/>
              <a:t> Damascus’s location allowed for better administrative control over the vast and expanding Islamic territories, with a focus on governance rather than religious leadership.</a:t>
            </a:r>
          </a:p>
          <a:p>
            <a:r>
              <a:rPr lang="en-US" b="1" dirty="0"/>
              <a:t>Islam Became an Empire:</a:t>
            </a:r>
          </a:p>
          <a:p>
            <a:r>
              <a:rPr lang="en-US" b="1" dirty="0"/>
              <a:t>Political Transformation:</a:t>
            </a:r>
            <a:r>
              <a:rPr lang="en-US" dirty="0"/>
              <a:t> The Umayyad Caliphate introduced hereditary succession, transitioning the Caliphate into a dynastic monarchy.</a:t>
            </a:r>
          </a:p>
          <a:p>
            <a:r>
              <a:rPr lang="en-US" b="1" dirty="0"/>
              <a:t>Governance:</a:t>
            </a:r>
            <a:r>
              <a:rPr lang="en-US" dirty="0"/>
              <a:t> The Caliphate held absolute control over political, judicial, fiscal, and military matters, further intertwining religion with state power.</a:t>
            </a:r>
          </a:p>
          <a:p>
            <a:r>
              <a:rPr lang="en-US" b="1" dirty="0"/>
              <a:t>Expansion of Territory:</a:t>
            </a:r>
          </a:p>
          <a:p>
            <a:r>
              <a:rPr lang="en-US" b="1" dirty="0"/>
              <a:t>Regions Conquered:</a:t>
            </a:r>
            <a:r>
              <a:rPr lang="en-US" dirty="0"/>
              <a:t> </a:t>
            </a:r>
          </a:p>
          <a:p>
            <a:pPr lvl="1"/>
            <a:r>
              <a:rPr lang="en-US" dirty="0"/>
              <a:t>North Africa and the Iberian Peninsula (Spain and Portugal), reaching as far as the Pyrenees.</a:t>
            </a:r>
          </a:p>
          <a:p>
            <a:pPr lvl="1"/>
            <a:r>
              <a:rPr lang="en-US" dirty="0"/>
              <a:t>Extended influence into Central Asia and the Indian subcontinent.</a:t>
            </a:r>
          </a:p>
          <a:p>
            <a:pPr lvl="1"/>
            <a:r>
              <a:rPr lang="en-US" dirty="0"/>
              <a:t>Key moment: The Battle of Tours (732) in France, where Muslim expansion into Europe was halted by Frankish forces under Charles Martel.</a:t>
            </a:r>
          </a:p>
          <a:p>
            <a:r>
              <a:rPr lang="en-US" b="1" dirty="0"/>
              <a:t>Cultural Integration:</a:t>
            </a:r>
            <a:r>
              <a:rPr lang="en-US" dirty="0"/>
              <a:t> Conquests brought diverse populations under Muslim rule, including Christians, Jews, and Zoroastrians.</a:t>
            </a:r>
          </a:p>
          <a:p>
            <a:r>
              <a:rPr lang="en-US" b="1" dirty="0"/>
              <a:t>Inequality Under Umayyad Rule:</a:t>
            </a:r>
          </a:p>
          <a:p>
            <a:r>
              <a:rPr lang="en-US" b="1" dirty="0"/>
              <a:t>Preferential Treatment:</a:t>
            </a:r>
            <a:r>
              <a:rPr lang="en-US" dirty="0"/>
              <a:t> Arab Muslims were favored, receiving greater political, social, and economic privileges compared to non-Arab Muslims (mawali) and non-Muslim communities (dhimmi).</a:t>
            </a:r>
          </a:p>
          <a:p>
            <a:r>
              <a:rPr lang="en-US" b="1" dirty="0"/>
              <a:t>Dhimmi Status:</a:t>
            </a:r>
            <a:r>
              <a:rPr lang="en-US" dirty="0"/>
              <a:t> Jews and Christians, as "People of the Book," were protected but faced restrictions, including paying a special tax (jizya) and being excluded from key positions of power.</a:t>
            </a:r>
          </a:p>
          <a:p>
            <a:r>
              <a:rPr lang="en-US" b="1" dirty="0"/>
              <a:t>Decline of the Dynasty:</a:t>
            </a:r>
          </a:p>
          <a:p>
            <a:r>
              <a:rPr lang="en-US" b="1" dirty="0"/>
              <a:t>Revolutionary Movements:</a:t>
            </a:r>
            <a:r>
              <a:rPr lang="en-US" dirty="0"/>
              <a:t> Dissatisfaction with Umayyad policies, especially the inequality between Arab and non-Arab Muslims, led to unrest.</a:t>
            </a:r>
          </a:p>
          <a:p>
            <a:r>
              <a:rPr lang="en-US" b="1" dirty="0"/>
              <a:t>Abbasid Revolution:</a:t>
            </a:r>
            <a:r>
              <a:rPr lang="en-US" dirty="0"/>
              <a:t> The Umayyads were overthrown in 750 CE by the Abbasids, who claimed descent from Muhammad’s uncle and promised a more inclusive rule.</a:t>
            </a:r>
          </a:p>
          <a:p>
            <a:r>
              <a:rPr lang="en-US" dirty="0"/>
              <a:t>Let me know when you're ready for Slide 5!</a:t>
            </a:r>
          </a:p>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32</a:t>
            </a:fld>
            <a:endParaRPr lang="en-US"/>
          </a:p>
        </p:txBody>
      </p:sp>
    </p:spTree>
    <p:extLst>
      <p:ext uri="{BB962C8B-B14F-4D97-AF65-F5344CB8AC3E}">
        <p14:creationId xmlns:p14="http://schemas.microsoft.com/office/powerpoint/2010/main" val="4107809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5: Abbasid Caliphate (750–1258)</a:t>
            </a:r>
          </a:p>
          <a:p>
            <a:r>
              <a:rPr lang="en-US" b="1" dirty="0"/>
              <a:t>Cultural Flourishing:</a:t>
            </a:r>
          </a:p>
          <a:p>
            <a:r>
              <a:rPr lang="en-US" b="1" dirty="0"/>
              <a:t>Persian Influence:</a:t>
            </a:r>
            <a:r>
              <a:rPr lang="en-US" dirty="0"/>
              <a:t> </a:t>
            </a:r>
          </a:p>
          <a:p>
            <a:pPr lvl="1"/>
            <a:r>
              <a:rPr lang="en-US" dirty="0"/>
              <a:t>The Abbasids incorporated Persian traditions into governance, adopting courtly customs that elevated the Caliph’s role to that of an emperor.</a:t>
            </a:r>
          </a:p>
          <a:p>
            <a:pPr lvl="1"/>
            <a:r>
              <a:rPr lang="en-US" dirty="0"/>
              <a:t>This Persianization marked a departure from the Arab-centric policies of the Umayyads, promoting inclusivity among different ethnic groups.</a:t>
            </a:r>
          </a:p>
          <a:p>
            <a:r>
              <a:rPr lang="en-US" b="1" dirty="0"/>
              <a:t>Support for Arts and Scholarship:</a:t>
            </a:r>
            <a:r>
              <a:rPr lang="en-US" dirty="0"/>
              <a:t> </a:t>
            </a:r>
          </a:p>
          <a:p>
            <a:pPr lvl="1"/>
            <a:r>
              <a:rPr lang="en-US" dirty="0"/>
              <a:t>The Abbasids were patrons of knowledge, establishing institutions like the </a:t>
            </a:r>
            <a:r>
              <a:rPr lang="en-US" b="1" dirty="0"/>
              <a:t>House of Wisdom</a:t>
            </a:r>
            <a:r>
              <a:rPr lang="en-US" dirty="0"/>
              <a:t> in Baghdad, where scholars translated Greek, Persian, and Indian texts into Arabic.</a:t>
            </a:r>
          </a:p>
          <a:p>
            <a:pPr lvl="1"/>
            <a:r>
              <a:rPr lang="en-US" dirty="0"/>
              <a:t>Advances in astronomy, medicine, mathematics (notably algebra), and philosophy flourished under their reign.</a:t>
            </a:r>
          </a:p>
          <a:p>
            <a:r>
              <a:rPr lang="en-US" b="1" dirty="0"/>
              <a:t>Legal and Religious Development:</a:t>
            </a:r>
          </a:p>
          <a:p>
            <a:r>
              <a:rPr lang="en-US" b="1" dirty="0"/>
              <a:t>Sharia Law:</a:t>
            </a:r>
            <a:r>
              <a:rPr lang="en-US" dirty="0"/>
              <a:t> The Abbasids played a crucial role in formalizing Islamic law, integrating it deeply into governance and daily life.</a:t>
            </a:r>
          </a:p>
          <a:p>
            <a:r>
              <a:rPr lang="en-US" b="1" dirty="0"/>
              <a:t>Role of the Ulema:</a:t>
            </a:r>
            <a:r>
              <a:rPr lang="en-US" dirty="0"/>
              <a:t> Specialists in Islamic law and theology (ulema) emerged as religious elites, interpreting Sharia and maintaining its application across the empire.</a:t>
            </a:r>
          </a:p>
          <a:p>
            <a:r>
              <a:rPr lang="en-US" b="1" dirty="0"/>
              <a:t>Unity through Religion:</a:t>
            </a:r>
            <a:r>
              <a:rPr lang="en-US" dirty="0"/>
              <a:t> By emphasizing Islamic law and scholarship, the Abbasids created a unifying framework across their diverse and sprawling empire.</a:t>
            </a:r>
          </a:p>
          <a:p>
            <a:r>
              <a:rPr lang="en-US" b="1" dirty="0"/>
              <a:t>Golden Age of Arabic Culture:</a:t>
            </a:r>
          </a:p>
          <a:p>
            <a:r>
              <a:rPr lang="en-US" b="1" dirty="0"/>
              <a:t>Arabic as a Lingua Franca:</a:t>
            </a:r>
            <a:r>
              <a:rPr lang="en-US" dirty="0"/>
              <a:t> Arabic became the common language of administration, scholarship, and culture, fostering communication across the empire.</a:t>
            </a:r>
          </a:p>
          <a:p>
            <a:r>
              <a:rPr lang="en-US" b="1" dirty="0"/>
              <a:t>Global Knowledge Exchange:</a:t>
            </a:r>
            <a:r>
              <a:rPr lang="en-US" dirty="0"/>
              <a:t> Scholars of various faiths collaborated, translating works from Greek (e.g., Aristotle and Plato), Sanskrit (e.g., Hindu texts), and Persian.</a:t>
            </a:r>
          </a:p>
          <a:p>
            <a:r>
              <a:rPr lang="en-US" b="1" dirty="0"/>
              <a:t>Literary Achievements:</a:t>
            </a:r>
            <a:r>
              <a:rPr lang="en-US" dirty="0"/>
              <a:t> Iconic works such as "The Thousand and One Nights" reflect the cultural synthesis of the Abbasid period.</a:t>
            </a:r>
          </a:p>
          <a:p>
            <a:r>
              <a:rPr lang="en-US" b="1" dirty="0"/>
              <a:t>Decline of Abbasid Rule:</a:t>
            </a:r>
          </a:p>
          <a:p>
            <a:r>
              <a:rPr lang="en-US" b="1" dirty="0"/>
              <a:t>Fragmentation and Invasions:</a:t>
            </a:r>
            <a:r>
              <a:rPr lang="en-US" dirty="0"/>
              <a:t> </a:t>
            </a:r>
          </a:p>
          <a:p>
            <a:pPr lvl="1"/>
            <a:r>
              <a:rPr lang="en-US" dirty="0"/>
              <a:t>The Abbasid Caliphate’s vast territory became difficult to govern, leading to the rise of autonomous regions and local rulers.</a:t>
            </a:r>
          </a:p>
          <a:p>
            <a:pPr lvl="1"/>
            <a:r>
              <a:rPr lang="en-US" dirty="0"/>
              <a:t>Invasions by Seljuk Turks, Crusaders, and ultimately the Mongols weakened Abbasid authority.</a:t>
            </a:r>
          </a:p>
          <a:p>
            <a:r>
              <a:rPr lang="en-US" b="1" dirty="0"/>
              <a:t>End of Abbasid Rule:</a:t>
            </a:r>
            <a:r>
              <a:rPr lang="en-US" dirty="0"/>
              <a:t> </a:t>
            </a:r>
          </a:p>
          <a:p>
            <a:pPr lvl="1"/>
            <a:r>
              <a:rPr lang="en-US" dirty="0"/>
              <a:t>The Mongols sacked Baghdad in 1258, marking the end of the Abbasid Caliphate. However, Abbasid cultural and intellectual contributions endured beyond their political demise.</a:t>
            </a:r>
          </a:p>
          <a:p>
            <a:r>
              <a:rPr lang="en-US" dirty="0"/>
              <a:t>Let me know if you'd like further elaboration or additional context for any of these points!</a:t>
            </a:r>
          </a:p>
          <a:p>
            <a:endParaRPr lang="en-US" dirty="0"/>
          </a:p>
        </p:txBody>
      </p:sp>
      <p:sp>
        <p:nvSpPr>
          <p:cNvPr id="4" name="Slide Number Placeholder 3"/>
          <p:cNvSpPr>
            <a:spLocks noGrp="1"/>
          </p:cNvSpPr>
          <p:nvPr>
            <p:ph type="sldNum" sz="quarter" idx="5"/>
          </p:nvPr>
        </p:nvSpPr>
        <p:spPr/>
        <p:txBody>
          <a:bodyPr/>
          <a:lstStyle/>
          <a:p>
            <a:fld id="{FDAC6807-6896-408C-B89E-96114AB3F089}" type="slidenum">
              <a:rPr lang="en-US" smtClean="0"/>
              <a:t>33</a:t>
            </a:fld>
            <a:endParaRPr lang="en-US"/>
          </a:p>
        </p:txBody>
      </p:sp>
    </p:spTree>
    <p:extLst>
      <p:ext uri="{BB962C8B-B14F-4D97-AF65-F5344CB8AC3E}">
        <p14:creationId xmlns:p14="http://schemas.microsoft.com/office/powerpoint/2010/main" val="1468667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https://www.youtube.com/watch?v=sIwQLgHHOZQ</a:t>
            </a:r>
          </a:p>
        </p:txBody>
      </p:sp>
      <p:sp>
        <p:nvSpPr>
          <p:cNvPr id="4" name="Slide Number Placeholder 3"/>
          <p:cNvSpPr>
            <a:spLocks noGrp="1"/>
          </p:cNvSpPr>
          <p:nvPr>
            <p:ph type="sldNum" sz="quarter" idx="5"/>
          </p:nvPr>
        </p:nvSpPr>
        <p:spPr/>
        <p:txBody>
          <a:bodyPr/>
          <a:lstStyle/>
          <a:p>
            <a:fld id="{FDAC6807-6896-408C-B89E-96114AB3F089}" type="slidenum">
              <a:rPr lang="en-US" smtClean="0"/>
              <a:t>44</a:t>
            </a:fld>
            <a:endParaRPr lang="en-US"/>
          </a:p>
        </p:txBody>
      </p:sp>
    </p:spTree>
    <p:extLst>
      <p:ext uri="{BB962C8B-B14F-4D97-AF65-F5344CB8AC3E}">
        <p14:creationId xmlns:p14="http://schemas.microsoft.com/office/powerpoint/2010/main" val="2999397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12/2/2025</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2" r:id="rId10"/>
    <p:sldLayoutId id="2147483853" r:id="rId11"/>
    <p:sldLayoutId id="2147483854" r:id="rId12"/>
    <p:sldLayoutId id="2147483855" r:id="rId13"/>
    <p:sldLayoutId id="2147483858" r:id="rId14"/>
    <p:sldLayoutId id="2147483859" r:id="rId15"/>
    <p:sldLayoutId id="2147483850" r:id="rId16"/>
    <p:sldLayoutId id="214748385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video" Target="https://www.youtube.com/embed/mUHDYlJHaOQ?feature=oembe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ideo" Target="https://www.youtube.com/embed/sIwQLgHHOZQ" TargetMode="Externa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youtube.com/watch?v=jDwnEhMGjCk"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www.youtube.com/watch?v=jDwnEhMGjCk"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AAE62-E182-47DE-914E-8FF215C72EBB}"/>
              </a:ext>
            </a:extLst>
          </p:cNvPr>
          <p:cNvSpPr>
            <a:spLocks noGrp="1"/>
          </p:cNvSpPr>
          <p:nvPr>
            <p:ph type="ctrTitle"/>
          </p:nvPr>
        </p:nvSpPr>
        <p:spPr/>
        <p:txBody>
          <a:bodyPr/>
          <a:lstStyle/>
          <a:p>
            <a:r>
              <a:rPr lang="en-US" dirty="0"/>
              <a:t>Islam</a:t>
            </a:r>
          </a:p>
        </p:txBody>
      </p:sp>
      <p:sp>
        <p:nvSpPr>
          <p:cNvPr id="3" name="Subtitle 2">
            <a:extLst>
              <a:ext uri="{FF2B5EF4-FFF2-40B4-BE49-F238E27FC236}">
                <a16:creationId xmlns:a16="http://schemas.microsoft.com/office/drawing/2014/main" id="{D197AAD1-691C-47FC-AD6B-65B7C1D0FD24}"/>
              </a:ext>
            </a:extLst>
          </p:cNvPr>
          <p:cNvSpPr>
            <a:spLocks noGrp="1"/>
          </p:cNvSpPr>
          <p:nvPr>
            <p:ph type="subTitle" idx="1"/>
          </p:nvPr>
        </p:nvSpPr>
        <p:spPr/>
        <p:txBody>
          <a:bodyPr/>
          <a:lstStyle/>
          <a:p>
            <a:r>
              <a:rPr lang="en-US" dirty="0"/>
              <a:t>Chapter 12</a:t>
            </a:r>
          </a:p>
        </p:txBody>
      </p:sp>
    </p:spTree>
    <p:extLst>
      <p:ext uri="{BB962C8B-B14F-4D97-AF65-F5344CB8AC3E}">
        <p14:creationId xmlns:p14="http://schemas.microsoft.com/office/powerpoint/2010/main" val="2784553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516F-011A-480D-8F2C-88A31FCF99F2}"/>
              </a:ext>
            </a:extLst>
          </p:cNvPr>
          <p:cNvSpPr>
            <a:spLocks noGrp="1"/>
          </p:cNvSpPr>
          <p:nvPr>
            <p:ph type="title"/>
          </p:nvPr>
        </p:nvSpPr>
        <p:spPr/>
        <p:txBody>
          <a:bodyPr/>
          <a:lstStyle/>
          <a:p>
            <a:r>
              <a:rPr lang="en-US" dirty="0"/>
              <a:t>Islam</a:t>
            </a:r>
          </a:p>
        </p:txBody>
      </p:sp>
      <p:sp>
        <p:nvSpPr>
          <p:cNvPr id="3" name="Content Placeholder 2">
            <a:extLst>
              <a:ext uri="{FF2B5EF4-FFF2-40B4-BE49-F238E27FC236}">
                <a16:creationId xmlns:a16="http://schemas.microsoft.com/office/drawing/2014/main" id="{A886F534-1A24-4BB6-A162-2E842B3155C9}"/>
              </a:ext>
            </a:extLst>
          </p:cNvPr>
          <p:cNvSpPr>
            <a:spLocks noGrp="1"/>
          </p:cNvSpPr>
          <p:nvPr>
            <p:ph idx="1"/>
          </p:nvPr>
        </p:nvSpPr>
        <p:spPr/>
        <p:txBody>
          <a:bodyPr/>
          <a:lstStyle/>
          <a:p>
            <a:r>
              <a:rPr lang="en-US" dirty="0"/>
              <a:t>Islam literally means “surrender” or “submission”</a:t>
            </a:r>
          </a:p>
          <a:p>
            <a:pPr lvl="1"/>
            <a:r>
              <a:rPr lang="en-US" dirty="0"/>
              <a:t>Follower of Islam is a Muslim, meaning “one who submits” to God</a:t>
            </a:r>
          </a:p>
          <a:p>
            <a:r>
              <a:rPr lang="en-US" dirty="0"/>
              <a:t>Holy language of Islam is Arabic</a:t>
            </a:r>
          </a:p>
          <a:p>
            <a:r>
              <a:rPr lang="en-US" dirty="0" err="1"/>
              <a:t>Apx</a:t>
            </a:r>
            <a:r>
              <a:rPr lang="en-US" dirty="0"/>
              <a:t> 1 Billion Muslims worldwide, 2</a:t>
            </a:r>
            <a:r>
              <a:rPr lang="en-US" baseline="30000" dirty="0"/>
              <a:t>nd</a:t>
            </a:r>
            <a:r>
              <a:rPr lang="en-US" dirty="0"/>
              <a:t> largest World Religion</a:t>
            </a:r>
          </a:p>
          <a:p>
            <a:pPr lvl="1"/>
            <a:r>
              <a:rPr lang="en-US" dirty="0"/>
              <a:t>And one of fastest growing religions</a:t>
            </a:r>
          </a:p>
          <a:p>
            <a:r>
              <a:rPr lang="en-US" dirty="0"/>
              <a:t>Much in common with Judaism and Christianity </a:t>
            </a:r>
          </a:p>
          <a:p>
            <a:pPr lvl="1"/>
            <a:r>
              <a:rPr lang="en-US" dirty="0"/>
              <a:t>All worship the God of Abraham and Moses</a:t>
            </a:r>
          </a:p>
          <a:p>
            <a:pPr lvl="1"/>
            <a:r>
              <a:rPr lang="en-US" dirty="0"/>
              <a:t>Belief in God’s revelations and Prophets (even accept Jesus Christ as a prophet)</a:t>
            </a:r>
          </a:p>
        </p:txBody>
      </p:sp>
    </p:spTree>
    <p:extLst>
      <p:ext uri="{BB962C8B-B14F-4D97-AF65-F5344CB8AC3E}">
        <p14:creationId xmlns:p14="http://schemas.microsoft.com/office/powerpoint/2010/main" val="622409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A02E9-2ECF-4FF2-BB16-8804527A905E}"/>
              </a:ext>
            </a:extLst>
          </p:cNvPr>
          <p:cNvSpPr>
            <a:spLocks noGrp="1"/>
          </p:cNvSpPr>
          <p:nvPr>
            <p:ph type="title"/>
          </p:nvPr>
        </p:nvSpPr>
        <p:spPr/>
        <p:txBody>
          <a:bodyPr/>
          <a:lstStyle/>
          <a:p>
            <a:r>
              <a:rPr lang="en-US" dirty="0"/>
              <a:t>Faith and Good Works</a:t>
            </a:r>
          </a:p>
        </p:txBody>
      </p:sp>
      <p:sp>
        <p:nvSpPr>
          <p:cNvPr id="3" name="Content Placeholder 2">
            <a:extLst>
              <a:ext uri="{FF2B5EF4-FFF2-40B4-BE49-F238E27FC236}">
                <a16:creationId xmlns:a16="http://schemas.microsoft.com/office/drawing/2014/main" id="{7F1F7BB2-39E5-4206-971B-6FFC0D1332D0}"/>
              </a:ext>
            </a:extLst>
          </p:cNvPr>
          <p:cNvSpPr>
            <a:spLocks noGrp="1"/>
          </p:cNvSpPr>
          <p:nvPr>
            <p:ph idx="1"/>
          </p:nvPr>
        </p:nvSpPr>
        <p:spPr/>
        <p:txBody>
          <a:bodyPr/>
          <a:lstStyle/>
          <a:p>
            <a:r>
              <a:rPr lang="en-US" dirty="0"/>
              <a:t>Judaism: Orthopraxy</a:t>
            </a:r>
          </a:p>
          <a:p>
            <a:r>
              <a:rPr lang="en-US" dirty="0"/>
              <a:t>Christianity: Orthodoxy</a:t>
            </a:r>
          </a:p>
          <a:p>
            <a:r>
              <a:rPr lang="en-US" dirty="0"/>
              <a:t>Islam: Both</a:t>
            </a:r>
          </a:p>
          <a:p>
            <a:pPr lvl="1"/>
            <a:r>
              <a:rPr lang="en-US" dirty="0"/>
              <a:t>Leads to activist and militaristic groups</a:t>
            </a:r>
          </a:p>
          <a:p>
            <a:r>
              <a:rPr lang="en-US" dirty="0"/>
              <a:t>Core Beliefs</a:t>
            </a:r>
          </a:p>
          <a:p>
            <a:pPr lvl="1"/>
            <a:r>
              <a:rPr lang="en-US" dirty="0"/>
              <a:t>Belief in One God – Allah</a:t>
            </a:r>
          </a:p>
          <a:p>
            <a:pPr lvl="1"/>
            <a:r>
              <a:rPr lang="en-US" dirty="0"/>
              <a:t>Belief in the Prophet – Muhammad</a:t>
            </a:r>
          </a:p>
          <a:p>
            <a:pPr lvl="1"/>
            <a:r>
              <a:rPr lang="en-US" dirty="0"/>
              <a:t>Belief in the Qur’an (Koran)</a:t>
            </a:r>
          </a:p>
          <a:p>
            <a:pPr lvl="1"/>
            <a:endParaRPr lang="en-US" dirty="0"/>
          </a:p>
        </p:txBody>
      </p:sp>
      <p:sp>
        <p:nvSpPr>
          <p:cNvPr id="4" name="Rectangle: Rounded Corners 3">
            <a:extLst>
              <a:ext uri="{FF2B5EF4-FFF2-40B4-BE49-F238E27FC236}">
                <a16:creationId xmlns:a16="http://schemas.microsoft.com/office/drawing/2014/main" id="{9057CDFD-64A0-48FD-B641-86BA794709B1}"/>
              </a:ext>
            </a:extLst>
          </p:cNvPr>
          <p:cNvSpPr/>
          <p:nvPr/>
        </p:nvSpPr>
        <p:spPr>
          <a:xfrm>
            <a:off x="7290033" y="1988191"/>
            <a:ext cx="3204595" cy="34059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Papyrus" panose="03070502060502030205" pitchFamily="66" charset="0"/>
              </a:rPr>
              <a:t>“God has promised those of you who believe and do good works to make them masters in the land…”</a:t>
            </a:r>
          </a:p>
          <a:p>
            <a:pPr algn="ctr"/>
            <a:r>
              <a:rPr lang="en-US" sz="2400" dirty="0">
                <a:latin typeface="Papyrus" panose="03070502060502030205" pitchFamily="66" charset="0"/>
              </a:rPr>
              <a:t>Qur’an 24:55</a:t>
            </a:r>
          </a:p>
        </p:txBody>
      </p:sp>
    </p:spTree>
    <p:extLst>
      <p:ext uri="{BB962C8B-B14F-4D97-AF65-F5344CB8AC3E}">
        <p14:creationId xmlns:p14="http://schemas.microsoft.com/office/powerpoint/2010/main" val="2761377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5CAAE-C439-4868-8E59-9D55D84FDB5D}"/>
              </a:ext>
            </a:extLst>
          </p:cNvPr>
          <p:cNvSpPr>
            <a:spLocks noGrp="1"/>
          </p:cNvSpPr>
          <p:nvPr>
            <p:ph type="title"/>
          </p:nvPr>
        </p:nvSpPr>
        <p:spPr/>
        <p:txBody>
          <a:bodyPr>
            <a:normAutofit fontScale="90000"/>
          </a:bodyPr>
          <a:lstStyle/>
          <a:p>
            <a:r>
              <a:rPr lang="en-US" dirty="0"/>
              <a:t>Muhammad Ibn Abdullah, the Founder of Islam</a:t>
            </a:r>
          </a:p>
        </p:txBody>
      </p:sp>
      <p:sp>
        <p:nvSpPr>
          <p:cNvPr id="3" name="Content Placeholder 2">
            <a:extLst>
              <a:ext uri="{FF2B5EF4-FFF2-40B4-BE49-F238E27FC236}">
                <a16:creationId xmlns:a16="http://schemas.microsoft.com/office/drawing/2014/main" id="{68AE12FC-6A4C-4519-AD6B-8D2DADAF0091}"/>
              </a:ext>
            </a:extLst>
          </p:cNvPr>
          <p:cNvSpPr>
            <a:spLocks noGrp="1"/>
          </p:cNvSpPr>
          <p:nvPr>
            <p:ph idx="1"/>
          </p:nvPr>
        </p:nvSpPr>
        <p:spPr/>
        <p:txBody>
          <a:bodyPr/>
          <a:lstStyle/>
          <a:p>
            <a:r>
              <a:rPr lang="en-US" dirty="0"/>
              <a:t>Serves both as God’s human instrument in bearing His revelation and</a:t>
            </a:r>
          </a:p>
          <a:p>
            <a:r>
              <a:rPr lang="en-US" dirty="0"/>
              <a:t>As the model or ideal whom all believers should emulate</a:t>
            </a:r>
          </a:p>
          <a:p>
            <a:r>
              <a:rPr lang="en-US" dirty="0"/>
              <a:t>Information regarding teachings and life of Muhammad come from the Qur’an and the hadiths</a:t>
            </a:r>
          </a:p>
          <a:p>
            <a:pPr lvl="1"/>
            <a:r>
              <a:rPr lang="en-US" dirty="0"/>
              <a:t>Source of Islamic law</a:t>
            </a:r>
          </a:p>
          <a:p>
            <a:pPr lvl="1"/>
            <a:r>
              <a:rPr lang="en-US" dirty="0"/>
              <a:t>Guidance on everything from hygiene, dress, eating, marriage, treatment of wives, etc. </a:t>
            </a:r>
          </a:p>
        </p:txBody>
      </p:sp>
      <p:sp>
        <p:nvSpPr>
          <p:cNvPr id="4" name="Rectangle: Rounded Corners 3">
            <a:extLst>
              <a:ext uri="{FF2B5EF4-FFF2-40B4-BE49-F238E27FC236}">
                <a16:creationId xmlns:a16="http://schemas.microsoft.com/office/drawing/2014/main" id="{8248F6CF-D958-47D3-A991-F5408913D7C5}"/>
              </a:ext>
            </a:extLst>
          </p:cNvPr>
          <p:cNvSpPr/>
          <p:nvPr/>
        </p:nvSpPr>
        <p:spPr>
          <a:xfrm>
            <a:off x="1191237" y="4429387"/>
            <a:ext cx="8758106" cy="97045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The Hadith</a:t>
            </a:r>
            <a:r>
              <a:rPr lang="en-US" dirty="0"/>
              <a:t>: Traditional report recording a saying or action of Muhammad</a:t>
            </a:r>
          </a:p>
          <a:p>
            <a:pPr algn="ctr"/>
            <a:r>
              <a:rPr lang="en-US" dirty="0"/>
              <a:t>Sets Muhammad’s life and teaching as an example of how Muslims should act</a:t>
            </a:r>
          </a:p>
        </p:txBody>
      </p:sp>
    </p:spTree>
    <p:extLst>
      <p:ext uri="{BB962C8B-B14F-4D97-AF65-F5344CB8AC3E}">
        <p14:creationId xmlns:p14="http://schemas.microsoft.com/office/powerpoint/2010/main" val="3501537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0255-88B8-4205-8F52-A2A8C225B902}"/>
              </a:ext>
            </a:extLst>
          </p:cNvPr>
          <p:cNvSpPr>
            <a:spLocks noGrp="1"/>
          </p:cNvSpPr>
          <p:nvPr>
            <p:ph type="title"/>
          </p:nvPr>
        </p:nvSpPr>
        <p:spPr/>
        <p:txBody>
          <a:bodyPr>
            <a:normAutofit fontScale="90000"/>
          </a:bodyPr>
          <a:lstStyle/>
          <a:p>
            <a:r>
              <a:rPr lang="en-US" dirty="0"/>
              <a:t>Muhammad Ibn Abdullah, the Founder of Islam</a:t>
            </a:r>
          </a:p>
        </p:txBody>
      </p:sp>
      <p:sp>
        <p:nvSpPr>
          <p:cNvPr id="3" name="Content Placeholder 2">
            <a:extLst>
              <a:ext uri="{FF2B5EF4-FFF2-40B4-BE49-F238E27FC236}">
                <a16:creationId xmlns:a16="http://schemas.microsoft.com/office/drawing/2014/main" id="{84BBDAD5-F714-443C-AE20-126007D5A40B}"/>
              </a:ext>
            </a:extLst>
          </p:cNvPr>
          <p:cNvSpPr>
            <a:spLocks noGrp="1"/>
          </p:cNvSpPr>
          <p:nvPr>
            <p:ph idx="1"/>
          </p:nvPr>
        </p:nvSpPr>
        <p:spPr/>
        <p:txBody>
          <a:bodyPr/>
          <a:lstStyle/>
          <a:p>
            <a:r>
              <a:rPr lang="en-US" dirty="0"/>
              <a:t>Born in Mecca, Saudi Arabia in 570 </a:t>
            </a:r>
            <a:r>
              <a:rPr lang="en-US" cap="small" dirty="0" err="1"/>
              <a:t>a.d.</a:t>
            </a:r>
            <a:endParaRPr lang="en-US" cap="small" dirty="0"/>
          </a:p>
          <a:p>
            <a:r>
              <a:rPr lang="en-US" dirty="0">
                <a:effectLst>
                  <a:outerShdw blurRad="38100" dist="38100" dir="2700000" algn="tl">
                    <a:srgbClr val="000000">
                      <a:alpha val="43137"/>
                    </a:srgbClr>
                  </a:outerShdw>
                </a:effectLst>
              </a:rPr>
              <a:t>Orphaned at a young age, raised by an Uncle</a:t>
            </a:r>
          </a:p>
          <a:p>
            <a:r>
              <a:rPr lang="en-US" dirty="0">
                <a:effectLst>
                  <a:outerShdw blurRad="38100" dist="38100" dir="2700000" algn="tl">
                    <a:srgbClr val="000000">
                      <a:alpha val="43137"/>
                    </a:srgbClr>
                  </a:outerShdw>
                </a:effectLst>
              </a:rPr>
              <a:t>Following family work, he became a merchant – Caravan work</a:t>
            </a:r>
          </a:p>
          <a:p>
            <a:r>
              <a:rPr lang="en-US" dirty="0">
                <a:effectLst>
                  <a:outerShdw blurRad="38100" dist="38100" dir="2700000" algn="tl">
                    <a:srgbClr val="000000">
                      <a:alpha val="43137"/>
                    </a:srgbClr>
                  </a:outerShdw>
                </a:effectLst>
              </a:rPr>
              <a:t>Began to work for a wealthy widow named Khadijah, whom he later married</a:t>
            </a:r>
          </a:p>
          <a:p>
            <a:pPr lvl="1"/>
            <a:r>
              <a:rPr lang="en-US" dirty="0">
                <a:effectLst>
                  <a:outerShdw blurRad="38100" dist="38100" dir="2700000" algn="tl">
                    <a:srgbClr val="000000">
                      <a:alpha val="43137"/>
                    </a:srgbClr>
                  </a:outerShdw>
                </a:effectLst>
              </a:rPr>
              <a:t>Together they had six children, though no male heir</a:t>
            </a:r>
          </a:p>
          <a:p>
            <a:pPr lvl="1"/>
            <a:r>
              <a:rPr lang="en-US" dirty="0">
                <a:effectLst>
                  <a:outerShdw blurRad="38100" dist="38100" dir="2700000" algn="tl">
                    <a:srgbClr val="000000">
                      <a:alpha val="43137"/>
                    </a:srgbClr>
                  </a:outerShdw>
                </a:effectLst>
              </a:rPr>
              <a:t>After Khadijah’s death, Muhammad married several other women in polygamous marriages</a:t>
            </a:r>
          </a:p>
          <a:p>
            <a:pPr lvl="2"/>
            <a:r>
              <a:rPr lang="en-US" dirty="0">
                <a:effectLst>
                  <a:outerShdw blurRad="38100" dist="38100" dir="2700000" algn="tl">
                    <a:srgbClr val="000000">
                      <a:alpha val="43137"/>
                    </a:srgbClr>
                  </a:outerShdw>
                </a:effectLst>
              </a:rPr>
              <a:t>Thirteen wives – to form political alliances and provide livelihood for widows</a:t>
            </a:r>
          </a:p>
          <a:p>
            <a:pPr lvl="2"/>
            <a:r>
              <a:rPr lang="en-US" dirty="0">
                <a:effectLst>
                  <a:outerShdw blurRad="38100" dist="38100" dir="2700000" algn="tl">
                    <a:srgbClr val="000000">
                      <a:alpha val="43137"/>
                    </a:srgbClr>
                  </a:outerShdw>
                </a:effectLst>
              </a:rPr>
              <a:t>Four concubines</a:t>
            </a:r>
          </a:p>
          <a:p>
            <a:pPr lvl="2"/>
            <a:r>
              <a:rPr lang="en-US" dirty="0">
                <a:effectLst>
                  <a:outerShdw blurRad="38100" dist="38100" dir="2700000" algn="tl">
                    <a:srgbClr val="000000">
                      <a:alpha val="43137"/>
                    </a:srgbClr>
                  </a:outerShdw>
                </a:effectLst>
              </a:rPr>
              <a:t>Most controversial is Aisha - marriage contracted at age 6, consummated at age 9 or 10</a:t>
            </a:r>
          </a:p>
        </p:txBody>
      </p:sp>
    </p:spTree>
    <p:extLst>
      <p:ext uri="{BB962C8B-B14F-4D97-AF65-F5344CB8AC3E}">
        <p14:creationId xmlns:p14="http://schemas.microsoft.com/office/powerpoint/2010/main" val="2275628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CBB50-AD18-479A-8C1A-5588A82DEFAF}"/>
              </a:ext>
            </a:extLst>
          </p:cNvPr>
          <p:cNvSpPr>
            <a:spLocks noGrp="1"/>
          </p:cNvSpPr>
          <p:nvPr>
            <p:ph type="title"/>
          </p:nvPr>
        </p:nvSpPr>
        <p:spPr/>
        <p:txBody>
          <a:bodyPr/>
          <a:lstStyle/>
          <a:p>
            <a:r>
              <a:rPr lang="en-US" dirty="0"/>
              <a:t>The Qur’an</a:t>
            </a:r>
          </a:p>
        </p:txBody>
      </p:sp>
      <p:sp>
        <p:nvSpPr>
          <p:cNvPr id="3" name="Content Placeholder 2">
            <a:extLst>
              <a:ext uri="{FF2B5EF4-FFF2-40B4-BE49-F238E27FC236}">
                <a16:creationId xmlns:a16="http://schemas.microsoft.com/office/drawing/2014/main" id="{8A6260C2-9FE5-438E-899D-C6DF54ADE13D}"/>
              </a:ext>
            </a:extLst>
          </p:cNvPr>
          <p:cNvSpPr>
            <a:spLocks noGrp="1"/>
          </p:cNvSpPr>
          <p:nvPr>
            <p:ph idx="1"/>
          </p:nvPr>
        </p:nvSpPr>
        <p:spPr/>
        <p:txBody>
          <a:bodyPr/>
          <a:lstStyle/>
          <a:p>
            <a:r>
              <a:rPr lang="en-US" dirty="0"/>
              <a:t>Ancient Trade Cities center of thriving cross-cultural contact</a:t>
            </a:r>
          </a:p>
          <a:p>
            <a:r>
              <a:rPr lang="en-US" dirty="0"/>
              <a:t>At the age of 40, received vision of Angel Gabriel with writings which he was commanded to recite</a:t>
            </a:r>
          </a:p>
          <a:p>
            <a:pPr lvl="1"/>
            <a:r>
              <a:rPr lang="en-US" dirty="0"/>
              <a:t>Surah 96:1-5</a:t>
            </a:r>
          </a:p>
          <a:p>
            <a:r>
              <a:rPr lang="en-US" dirty="0"/>
              <a:t>Muhammad would continue to receive divine revelations over a period of 22 years, 610-632</a:t>
            </a:r>
          </a:p>
          <a:p>
            <a:r>
              <a:rPr lang="en-US" dirty="0"/>
              <a:t>Recitations first committed to memory; later written down and compiled according to length</a:t>
            </a:r>
          </a:p>
          <a:p>
            <a:r>
              <a:rPr lang="en-US" dirty="0"/>
              <a:t>Published as “The Qur’an” meaning the recitations</a:t>
            </a:r>
          </a:p>
        </p:txBody>
      </p:sp>
    </p:spTree>
    <p:extLst>
      <p:ext uri="{BB962C8B-B14F-4D97-AF65-F5344CB8AC3E}">
        <p14:creationId xmlns:p14="http://schemas.microsoft.com/office/powerpoint/2010/main" val="3501161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642FE-EE61-4D77-8D32-874A8E2DBC87}"/>
              </a:ext>
            </a:extLst>
          </p:cNvPr>
          <p:cNvSpPr>
            <a:spLocks noGrp="1"/>
          </p:cNvSpPr>
          <p:nvPr>
            <p:ph type="title"/>
          </p:nvPr>
        </p:nvSpPr>
        <p:spPr/>
        <p:txBody>
          <a:bodyPr/>
          <a:lstStyle/>
          <a:p>
            <a:r>
              <a:rPr lang="en-US" altLang="en-US" dirty="0"/>
              <a:t>Themes of early prophetic message </a:t>
            </a:r>
            <a:endParaRPr lang="en-US" dirty="0"/>
          </a:p>
        </p:txBody>
      </p:sp>
      <p:sp>
        <p:nvSpPr>
          <p:cNvPr id="3" name="Content Placeholder 2">
            <a:extLst>
              <a:ext uri="{FF2B5EF4-FFF2-40B4-BE49-F238E27FC236}">
                <a16:creationId xmlns:a16="http://schemas.microsoft.com/office/drawing/2014/main" id="{3432BE23-F279-4B29-8174-E052BD3868E8}"/>
              </a:ext>
            </a:extLst>
          </p:cNvPr>
          <p:cNvSpPr>
            <a:spLocks noGrp="1"/>
          </p:cNvSpPr>
          <p:nvPr>
            <p:ph idx="1"/>
          </p:nvPr>
        </p:nvSpPr>
        <p:spPr/>
        <p:txBody>
          <a:bodyPr/>
          <a:lstStyle/>
          <a:p>
            <a:r>
              <a:rPr lang="en-US" dirty="0"/>
              <a:t>Role of Muhammad as Last Prophet and Warner – admonish people to repent and obey God or suffer at Day of Judgement (see Surah 22:49-50; compare to Jewish prophets Jeremiah and Amos)</a:t>
            </a:r>
          </a:p>
          <a:p>
            <a:r>
              <a:rPr lang="en-US" altLang="en-US" dirty="0"/>
              <a:t>Only one God exists, </a:t>
            </a:r>
            <a:r>
              <a:rPr lang="en-US" altLang="en-US" b="1" dirty="0"/>
              <a:t>Allah</a:t>
            </a:r>
          </a:p>
          <a:p>
            <a:pPr lvl="1"/>
            <a:r>
              <a:rPr lang="en-IN" altLang="en-US" dirty="0"/>
              <a:t>Commands people to believe in this one God and to submit to God’s holy will</a:t>
            </a:r>
            <a:endParaRPr lang="en-US" altLang="en-US" dirty="0"/>
          </a:p>
          <a:p>
            <a:r>
              <a:rPr lang="en-US" altLang="en-US" dirty="0"/>
              <a:t>A day of judgment will come</a:t>
            </a:r>
          </a:p>
          <a:p>
            <a:pPr lvl="1"/>
            <a:r>
              <a:rPr lang="en-IN" altLang="en-US" dirty="0"/>
              <a:t>Those submitted to God will be rewarded forever and others punished eternally</a:t>
            </a:r>
            <a:endParaRPr lang="en-US" altLang="en-US" dirty="0"/>
          </a:p>
          <a:p>
            <a:r>
              <a:rPr lang="en-US" altLang="en-US" dirty="0"/>
              <a:t>Generosity to the poor, widows, and orphans; presence and goodness of God in the natural world; and the prophetic call of Muhammad</a:t>
            </a:r>
          </a:p>
          <a:p>
            <a:endParaRPr lang="en-US" dirty="0"/>
          </a:p>
        </p:txBody>
      </p:sp>
    </p:spTree>
    <p:extLst>
      <p:ext uri="{BB962C8B-B14F-4D97-AF65-F5344CB8AC3E}">
        <p14:creationId xmlns:p14="http://schemas.microsoft.com/office/powerpoint/2010/main" val="2896548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E87C5-1C22-4FFB-9DD4-E9104FCC3C11}"/>
              </a:ext>
            </a:extLst>
          </p:cNvPr>
          <p:cNvSpPr>
            <a:spLocks noGrp="1"/>
          </p:cNvSpPr>
          <p:nvPr>
            <p:ph type="title"/>
          </p:nvPr>
        </p:nvSpPr>
        <p:spPr/>
        <p:txBody>
          <a:bodyPr/>
          <a:lstStyle/>
          <a:p>
            <a:r>
              <a:rPr lang="en-US" dirty="0"/>
              <a:t>Pre-Islamic Arabian Religion</a:t>
            </a:r>
          </a:p>
        </p:txBody>
      </p:sp>
      <p:sp>
        <p:nvSpPr>
          <p:cNvPr id="3" name="Content Placeholder 2">
            <a:extLst>
              <a:ext uri="{FF2B5EF4-FFF2-40B4-BE49-F238E27FC236}">
                <a16:creationId xmlns:a16="http://schemas.microsoft.com/office/drawing/2014/main" id="{34BAF3EA-522B-4535-B0B9-C1D9BC52DE17}"/>
              </a:ext>
            </a:extLst>
          </p:cNvPr>
          <p:cNvSpPr>
            <a:spLocks noGrp="1"/>
          </p:cNvSpPr>
          <p:nvPr>
            <p:ph sz="half" idx="1"/>
          </p:nvPr>
        </p:nvSpPr>
        <p:spPr/>
        <p:txBody>
          <a:bodyPr/>
          <a:lstStyle/>
          <a:p>
            <a:r>
              <a:rPr lang="en-US" dirty="0"/>
              <a:t>Tribal culture was polytheistic and animistic</a:t>
            </a:r>
          </a:p>
          <a:p>
            <a:r>
              <a:rPr lang="en-US" dirty="0"/>
              <a:t>Consisted of worship of tree and mountain spirits, and Jinn</a:t>
            </a:r>
          </a:p>
          <a:p>
            <a:endParaRPr lang="en-US" dirty="0"/>
          </a:p>
          <a:p>
            <a:endParaRPr lang="en-US" dirty="0"/>
          </a:p>
          <a:p>
            <a:endParaRPr lang="en-US" dirty="0"/>
          </a:p>
          <a:p>
            <a:endParaRPr lang="en-US" dirty="0"/>
          </a:p>
          <a:p>
            <a:r>
              <a:rPr lang="en-US" dirty="0"/>
              <a:t>Jinn and other demons retained in Islamic belief</a:t>
            </a:r>
          </a:p>
          <a:p>
            <a:endParaRPr lang="en-US" dirty="0"/>
          </a:p>
          <a:p>
            <a:pPr marL="36900" indent="0">
              <a:buNone/>
            </a:pPr>
            <a:endParaRPr lang="en-US" dirty="0"/>
          </a:p>
          <a:p>
            <a:endParaRPr lang="en-US" dirty="0"/>
          </a:p>
        </p:txBody>
      </p:sp>
      <p:pic>
        <p:nvPicPr>
          <p:cNvPr id="1026" name="Picture 2" descr="Aladdin and the Efrite, jinn, genie.">
            <a:extLst>
              <a:ext uri="{FF2B5EF4-FFF2-40B4-BE49-F238E27FC236}">
                <a16:creationId xmlns:a16="http://schemas.microsoft.com/office/drawing/2014/main" id="{B74F7F47-8ACA-48D2-97D2-D363D3B16DA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056114" y="1731963"/>
            <a:ext cx="3883130" cy="469373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95D7603A-F70C-46B9-93CE-AE51A62756AF}"/>
              </a:ext>
            </a:extLst>
          </p:cNvPr>
          <p:cNvSpPr/>
          <p:nvPr/>
        </p:nvSpPr>
        <p:spPr>
          <a:xfrm>
            <a:off x="662730" y="3303165"/>
            <a:ext cx="5704514" cy="169667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supernatural creatures, shape-shifting otherworldly beings, jinn were spirits that haunted the deserts of Arabia. Their bodies are composed of fire. Jinn are not intrinsically malevolent—in some tales they grant wishes and give help to humans in need—but running afoul of an angry jinni is a hair-raising experience.</a:t>
            </a:r>
          </a:p>
        </p:txBody>
      </p:sp>
    </p:spTree>
    <p:extLst>
      <p:ext uri="{BB962C8B-B14F-4D97-AF65-F5344CB8AC3E}">
        <p14:creationId xmlns:p14="http://schemas.microsoft.com/office/powerpoint/2010/main" val="3061077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1F50-545C-44B4-95ED-0326937DEF25}"/>
              </a:ext>
            </a:extLst>
          </p:cNvPr>
          <p:cNvSpPr>
            <a:spLocks noGrp="1"/>
          </p:cNvSpPr>
          <p:nvPr>
            <p:ph type="title"/>
          </p:nvPr>
        </p:nvSpPr>
        <p:spPr/>
        <p:txBody>
          <a:bodyPr anchor="t"/>
          <a:lstStyle/>
          <a:p>
            <a:r>
              <a:rPr lang="en-US" dirty="0"/>
              <a:t>Spread of Islam</a:t>
            </a:r>
          </a:p>
        </p:txBody>
      </p:sp>
      <p:sp>
        <p:nvSpPr>
          <p:cNvPr id="3" name="Content Placeholder 2">
            <a:extLst>
              <a:ext uri="{FF2B5EF4-FFF2-40B4-BE49-F238E27FC236}">
                <a16:creationId xmlns:a16="http://schemas.microsoft.com/office/drawing/2014/main" id="{887D0F3E-450E-477F-B0AB-A420E18DF048}"/>
              </a:ext>
            </a:extLst>
          </p:cNvPr>
          <p:cNvSpPr>
            <a:spLocks noGrp="1"/>
          </p:cNvSpPr>
          <p:nvPr>
            <p:ph sz="half" idx="1"/>
          </p:nvPr>
        </p:nvSpPr>
        <p:spPr>
          <a:xfrm>
            <a:off x="485170" y="1713399"/>
            <a:ext cx="5489122" cy="4077800"/>
          </a:xfrm>
        </p:spPr>
        <p:txBody>
          <a:bodyPr>
            <a:normAutofit fontScale="85000" lnSpcReduction="10000"/>
          </a:bodyPr>
          <a:lstStyle/>
          <a:p>
            <a:pPr indent="-305435"/>
            <a:r>
              <a:rPr lang="en-US" sz="2100" dirty="0"/>
              <a:t>Muhammad begins preaching in Mecca</a:t>
            </a:r>
            <a:endParaRPr lang="en-US" sz="21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sz="1900" dirty="0"/>
              <a:t> monotheism and the destruction idols</a:t>
            </a:r>
            <a:endParaRPr lang="en-US" sz="19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sz="1900" dirty="0"/>
              <a:t>Denounced usury and other unscrupulous practices</a:t>
            </a:r>
            <a:endParaRPr lang="en-US" sz="19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sz="1900" dirty="0"/>
              <a:t>All believers belong to a single universal community transcending tribal bonds</a:t>
            </a:r>
            <a:endParaRPr lang="en-US" sz="19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sz="2100" dirty="0"/>
              <a:t>Teachings threatened the religious and economic foundations of Meccan society/undermined tribal authority</a:t>
            </a:r>
            <a:endParaRPr lang="en-US" sz="21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altLang="en-US" sz="2100" dirty="0"/>
              <a:t>Ridiculed Muhammad as a deranged poet who had performed no signs or miracles</a:t>
            </a:r>
            <a:endParaRPr lang="en-US" altLang="en-US" sz="2100"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altLang="en-US" sz="2100" dirty="0"/>
              <a:t>Persecution escalated and Muhammad’s position in Mecca deteriorated after the death of his uncle and Khadija in 619</a:t>
            </a:r>
            <a:endParaRPr lang="en-US" sz="2100" dirty="0">
              <a:ln>
                <a:solidFill>
                  <a:prstClr val="black">
                    <a:lumMod val="75000"/>
                    <a:lumOff val="25000"/>
                    <a:alpha val="10000"/>
                  </a:prstClr>
                </a:solidFill>
              </a:ln>
              <a:effectLst>
                <a:outerShdw blurRad="9525" dist="25400" dir="14640000" algn="tl" rotWithShape="0">
                  <a:prstClr val="black">
                    <a:alpha val="30000"/>
                  </a:prstClr>
                </a:outerShdw>
              </a:effectLst>
            </a:endParaRPr>
          </a:p>
          <a:p>
            <a:endParaRPr lang="en-US" dirty="0"/>
          </a:p>
        </p:txBody>
      </p:sp>
      <p:pic>
        <p:nvPicPr>
          <p:cNvPr id="2050" name="Picture 2">
            <a:extLst>
              <a:ext uri="{FF2B5EF4-FFF2-40B4-BE49-F238E27FC236}">
                <a16:creationId xmlns:a16="http://schemas.microsoft.com/office/drawing/2014/main" id="{5B0232D2-13F9-4547-8A3D-9976D7CD9D8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46202" y="1731963"/>
            <a:ext cx="4978034" cy="4059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884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1F50-545C-44B4-95ED-0326937DEF25}"/>
              </a:ext>
            </a:extLst>
          </p:cNvPr>
          <p:cNvSpPr>
            <a:spLocks noGrp="1"/>
          </p:cNvSpPr>
          <p:nvPr>
            <p:ph type="title"/>
          </p:nvPr>
        </p:nvSpPr>
        <p:spPr/>
        <p:txBody>
          <a:bodyPr anchor="t"/>
          <a:lstStyle/>
          <a:p>
            <a:r>
              <a:rPr lang="en-US" dirty="0"/>
              <a:t>Night Journey (621 </a:t>
            </a:r>
            <a:r>
              <a:rPr lang="en-US" cap="small" dirty="0" err="1"/>
              <a:t>a.d.</a:t>
            </a:r>
            <a:r>
              <a:rPr lang="en-US" cap="small" dirty="0"/>
              <a:t>) </a:t>
            </a:r>
            <a:endParaRPr lang="en-US" dirty="0"/>
          </a:p>
        </p:txBody>
      </p:sp>
      <p:sp>
        <p:nvSpPr>
          <p:cNvPr id="3" name="Content Placeholder 2">
            <a:extLst>
              <a:ext uri="{FF2B5EF4-FFF2-40B4-BE49-F238E27FC236}">
                <a16:creationId xmlns:a16="http://schemas.microsoft.com/office/drawing/2014/main" id="{887D0F3E-450E-477F-B0AB-A420E18DF048}"/>
              </a:ext>
            </a:extLst>
          </p:cNvPr>
          <p:cNvSpPr>
            <a:spLocks noGrp="1"/>
          </p:cNvSpPr>
          <p:nvPr>
            <p:ph sz="half" idx="1"/>
          </p:nvPr>
        </p:nvSpPr>
        <p:spPr>
          <a:xfrm>
            <a:off x="913795" y="1638773"/>
            <a:ext cx="5688341" cy="4058750"/>
          </a:xfrm>
        </p:spPr>
        <p:txBody>
          <a:bodyPr>
            <a:normAutofit/>
          </a:bodyPr>
          <a:lstStyle/>
          <a:p>
            <a:r>
              <a:rPr lang="en-US" dirty="0"/>
              <a:t>Gabriel awakens Muhammad and purifies him</a:t>
            </a:r>
          </a:p>
          <a:p>
            <a:r>
              <a:rPr lang="en-US" dirty="0"/>
              <a:t>Riding a Buraq (mythical winged creature) Muhammad is taken to Jerusalem where he meets Abraham, Moses, and Jesus</a:t>
            </a:r>
          </a:p>
          <a:p>
            <a:r>
              <a:rPr lang="en-US" dirty="0"/>
              <a:t>He officiates in prayer – establishing his primacy among God’s messengers</a:t>
            </a:r>
          </a:p>
          <a:p>
            <a:r>
              <a:rPr lang="en-US" dirty="0"/>
              <a:t>From there he ascends all seven levels of heaven until he reaches the throne of God</a:t>
            </a:r>
          </a:p>
          <a:p>
            <a:pPr lvl="1"/>
            <a:r>
              <a:rPr lang="en-US" dirty="0"/>
              <a:t>He is commanded to pray 50 times a day, but Moses advises Muhammad to plead for a reduction to five</a:t>
            </a:r>
          </a:p>
        </p:txBody>
      </p:sp>
      <p:pic>
        <p:nvPicPr>
          <p:cNvPr id="3074" name="Picture 2">
            <a:extLst>
              <a:ext uri="{FF2B5EF4-FFF2-40B4-BE49-F238E27FC236}">
                <a16:creationId xmlns:a16="http://schemas.microsoft.com/office/drawing/2014/main" id="{C74518C4-6006-40DD-A14F-96CD411E35A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408896" y="1638773"/>
            <a:ext cx="3204320" cy="4934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1231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0D59F-C61C-4273-8BF1-0A03233F200C}"/>
              </a:ext>
            </a:extLst>
          </p:cNvPr>
          <p:cNvSpPr>
            <a:spLocks noGrp="1"/>
          </p:cNvSpPr>
          <p:nvPr>
            <p:ph type="title"/>
          </p:nvPr>
        </p:nvSpPr>
        <p:spPr/>
        <p:txBody>
          <a:bodyPr/>
          <a:lstStyle/>
          <a:p>
            <a:r>
              <a:rPr lang="en-US" dirty="0"/>
              <a:t>The Hijrah (622 </a:t>
            </a:r>
            <a:r>
              <a:rPr lang="en-US" cap="small" dirty="0" err="1"/>
              <a:t>a.d.</a:t>
            </a:r>
            <a:r>
              <a:rPr lang="en-US" cap="small" dirty="0"/>
              <a:t>)</a:t>
            </a:r>
          </a:p>
        </p:txBody>
      </p:sp>
      <p:sp>
        <p:nvSpPr>
          <p:cNvPr id="3" name="Content Placeholder 2">
            <a:extLst>
              <a:ext uri="{FF2B5EF4-FFF2-40B4-BE49-F238E27FC236}">
                <a16:creationId xmlns:a16="http://schemas.microsoft.com/office/drawing/2014/main" id="{16D886DC-F021-40C2-88F4-F0CF5E293310}"/>
              </a:ext>
            </a:extLst>
          </p:cNvPr>
          <p:cNvSpPr>
            <a:spLocks noGrp="1"/>
          </p:cNvSpPr>
          <p:nvPr>
            <p:ph sz="half" idx="1"/>
          </p:nvPr>
        </p:nvSpPr>
        <p:spPr>
          <a:xfrm>
            <a:off x="913795" y="1732449"/>
            <a:ext cx="5060497" cy="4659962"/>
          </a:xfrm>
        </p:spPr>
        <p:txBody>
          <a:bodyPr>
            <a:normAutofit fontScale="92500" lnSpcReduction="10000"/>
          </a:bodyPr>
          <a:lstStyle/>
          <a:p>
            <a:pPr indent="-305435"/>
            <a:r>
              <a:rPr lang="en-US" dirty="0"/>
              <a:t>Muhammad and his followers forced to flee Mecca</a:t>
            </a:r>
            <a:endParaRPr lang="en-US"/>
          </a:p>
          <a:p>
            <a:pPr indent="-305435"/>
            <a:r>
              <a:rPr lang="en-US" dirty="0"/>
              <a:t>Known as Hijrah (migration or flight) – central event in early Islamic history</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dirty="0"/>
              <a:t>Muhammad’s message favorably received in Medina</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dirty="0"/>
              <a:t>Islam took on political form with the establishment of the Islamic community-state (Umma)</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dirty="0"/>
              <a:t>Islam begins to be institutionalized</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dirty="0"/>
              <a:t>Islamic calendar start with this date</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cap="small" dirty="0" err="1"/>
              <a:t>a.h.</a:t>
            </a:r>
            <a:r>
              <a:rPr lang="en-US" cap="small" dirty="0"/>
              <a:t> 1</a:t>
            </a:r>
            <a:endParaRPr lang="en-US" cap="small"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dirty="0"/>
              <a:t>Follow lunar calendar</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dirty="0"/>
              <a:t>AD 2022 = AH 1444</a:t>
            </a:r>
            <a:endParaRPr lang="en-US"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pic>
        <p:nvPicPr>
          <p:cNvPr id="4098" name="Picture 2" descr="Muhammad goes to Hegira – 622">
            <a:extLst>
              <a:ext uri="{FF2B5EF4-FFF2-40B4-BE49-F238E27FC236}">
                <a16:creationId xmlns:a16="http://schemas.microsoft.com/office/drawing/2014/main" id="{4CFC484F-DD8B-4780-9471-7799E9B44C0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217710" y="1732449"/>
            <a:ext cx="5732282" cy="278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2386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FE5F5D-536F-45BF-B741-D6CD920632DC}"/>
              </a:ext>
            </a:extLst>
          </p:cNvPr>
          <p:cNvSpPr>
            <a:spLocks noGrp="1"/>
          </p:cNvSpPr>
          <p:nvPr>
            <p:ph type="title"/>
          </p:nvPr>
        </p:nvSpPr>
        <p:spPr/>
        <p:txBody>
          <a:bodyPr/>
          <a:lstStyle/>
          <a:p>
            <a:r>
              <a:rPr lang="en-US" dirty="0"/>
              <a:t>Life of Muhammad</a:t>
            </a:r>
          </a:p>
        </p:txBody>
      </p:sp>
      <p:sp>
        <p:nvSpPr>
          <p:cNvPr id="6" name="Text Placeholder 5">
            <a:extLst>
              <a:ext uri="{FF2B5EF4-FFF2-40B4-BE49-F238E27FC236}">
                <a16:creationId xmlns:a16="http://schemas.microsoft.com/office/drawing/2014/main" id="{DCDA6A4E-0230-47C9-A074-EDBB40AE5DE3}"/>
              </a:ext>
            </a:extLst>
          </p:cNvPr>
          <p:cNvSpPr>
            <a:spLocks noGrp="1"/>
          </p:cNvSpPr>
          <p:nvPr>
            <p:ph type="body" idx="1"/>
          </p:nvPr>
        </p:nvSpPr>
        <p:spPr/>
        <p:txBody>
          <a:bodyPr/>
          <a:lstStyle/>
          <a:p>
            <a:r>
              <a:rPr lang="en-US" dirty="0"/>
              <a:t>Episode 2 “Holy Wars” </a:t>
            </a:r>
          </a:p>
        </p:txBody>
      </p:sp>
    </p:spTree>
    <p:extLst>
      <p:ext uri="{BB962C8B-B14F-4D97-AF65-F5344CB8AC3E}">
        <p14:creationId xmlns:p14="http://schemas.microsoft.com/office/powerpoint/2010/main" val="984579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CD3E04-AAEA-4F98-A629-3970BA43014E}"/>
              </a:ext>
            </a:extLst>
          </p:cNvPr>
          <p:cNvSpPr>
            <a:spLocks noGrp="1"/>
          </p:cNvSpPr>
          <p:nvPr>
            <p:ph type="title"/>
          </p:nvPr>
        </p:nvSpPr>
        <p:spPr/>
        <p:txBody>
          <a:bodyPr>
            <a:normAutofit fontScale="90000"/>
          </a:bodyPr>
          <a:lstStyle/>
          <a:p>
            <a:r>
              <a:rPr lang="en-US" dirty="0"/>
              <a:t>Muhammad Ibn Abdullah, the Founder of Islam</a:t>
            </a:r>
          </a:p>
        </p:txBody>
      </p:sp>
      <p:sp>
        <p:nvSpPr>
          <p:cNvPr id="5" name="Content Placeholder 4">
            <a:extLst>
              <a:ext uri="{FF2B5EF4-FFF2-40B4-BE49-F238E27FC236}">
                <a16:creationId xmlns:a16="http://schemas.microsoft.com/office/drawing/2014/main" id="{CC893F75-6570-49AD-AA9C-F78FBB88956F}"/>
              </a:ext>
            </a:extLst>
          </p:cNvPr>
          <p:cNvSpPr>
            <a:spLocks noGrp="1"/>
          </p:cNvSpPr>
          <p:nvPr>
            <p:ph idx="1"/>
          </p:nvPr>
        </p:nvSpPr>
        <p:spPr/>
        <p:txBody>
          <a:bodyPr/>
          <a:lstStyle/>
          <a:p>
            <a:pPr>
              <a:spcBef>
                <a:spcPts val="600"/>
              </a:spcBef>
            </a:pPr>
            <a:r>
              <a:rPr lang="en-US" altLang="en-US" dirty="0"/>
              <a:t>Muslims organized raids on Meccan caravans </a:t>
            </a:r>
          </a:p>
          <a:p>
            <a:pPr lvl="1">
              <a:spcBef>
                <a:spcPts val="600"/>
              </a:spcBef>
            </a:pPr>
            <a:r>
              <a:rPr lang="en-US" altLang="en-US" dirty="0"/>
              <a:t>Continued until the Muslim military victory over Mecca </a:t>
            </a:r>
            <a:r>
              <a:rPr lang="en-IN" altLang="en-US" dirty="0"/>
              <a:t>in the Battle of </a:t>
            </a:r>
            <a:r>
              <a:rPr lang="en-IN" altLang="en-US" dirty="0" err="1"/>
              <a:t>Badr</a:t>
            </a:r>
            <a:r>
              <a:rPr lang="en-IN" altLang="en-US" dirty="0"/>
              <a:t> (624)</a:t>
            </a:r>
            <a:endParaRPr lang="en-US" altLang="en-US" dirty="0"/>
          </a:p>
          <a:p>
            <a:pPr lvl="1">
              <a:spcBef>
                <a:spcPts val="600"/>
              </a:spcBef>
            </a:pPr>
            <a:r>
              <a:rPr lang="en-US" altLang="en-US" dirty="0"/>
              <a:t>Turning point in the fortunes of Islam</a:t>
            </a:r>
          </a:p>
          <a:p>
            <a:r>
              <a:rPr lang="en-US" altLang="en-US" dirty="0"/>
              <a:t>Many Arab tribes converted to Islam while Muhammad controlled Medina</a:t>
            </a:r>
          </a:p>
          <a:p>
            <a:r>
              <a:rPr lang="en-US" altLang="en-US" dirty="0"/>
              <a:t>Gained control of Mecca in 630 C.E.</a:t>
            </a:r>
          </a:p>
          <a:p>
            <a:pPr lvl="1"/>
            <a:r>
              <a:rPr lang="en-US" altLang="en-US" dirty="0"/>
              <a:t>Removed </a:t>
            </a:r>
            <a:r>
              <a:rPr lang="en-IN" altLang="en-US" dirty="0"/>
              <a:t>idolatrous images from the city, leaving only the sacred cubic building and its holy stone</a:t>
            </a:r>
            <a:endParaRPr lang="en-US" altLang="en-US" dirty="0"/>
          </a:p>
          <a:p>
            <a:pPr lvl="1">
              <a:spcBef>
                <a:spcPts val="600"/>
              </a:spcBef>
            </a:pPr>
            <a:r>
              <a:rPr lang="en-US" dirty="0"/>
              <a:t>Kept Mecca as the destination for Muslim pilgrimage and maintained </a:t>
            </a:r>
            <a:r>
              <a:rPr lang="en-IN" dirty="0"/>
              <a:t>some of its religious sites</a:t>
            </a:r>
            <a:endParaRPr lang="en-US" altLang="en-US" dirty="0"/>
          </a:p>
          <a:p>
            <a:endParaRPr lang="en-US" dirty="0"/>
          </a:p>
        </p:txBody>
      </p:sp>
    </p:spTree>
    <p:extLst>
      <p:ext uri="{BB962C8B-B14F-4D97-AF65-F5344CB8AC3E}">
        <p14:creationId xmlns:p14="http://schemas.microsoft.com/office/powerpoint/2010/main" val="101346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CD3E04-AAEA-4F98-A629-3970BA43014E}"/>
              </a:ext>
            </a:extLst>
          </p:cNvPr>
          <p:cNvSpPr>
            <a:spLocks noGrp="1"/>
          </p:cNvSpPr>
          <p:nvPr>
            <p:ph type="title"/>
          </p:nvPr>
        </p:nvSpPr>
        <p:spPr/>
        <p:txBody>
          <a:bodyPr>
            <a:normAutofit fontScale="90000"/>
          </a:bodyPr>
          <a:lstStyle/>
          <a:p>
            <a:r>
              <a:rPr lang="en-US" dirty="0"/>
              <a:t>Muhammad Ibn Abdullah, the Founder of Islam</a:t>
            </a:r>
          </a:p>
        </p:txBody>
      </p:sp>
      <p:sp>
        <p:nvSpPr>
          <p:cNvPr id="5" name="Content Placeholder 4">
            <a:extLst>
              <a:ext uri="{FF2B5EF4-FFF2-40B4-BE49-F238E27FC236}">
                <a16:creationId xmlns:a16="http://schemas.microsoft.com/office/drawing/2014/main" id="{CC893F75-6570-49AD-AA9C-F78FBB88956F}"/>
              </a:ext>
            </a:extLst>
          </p:cNvPr>
          <p:cNvSpPr>
            <a:spLocks noGrp="1"/>
          </p:cNvSpPr>
          <p:nvPr>
            <p:ph idx="1"/>
          </p:nvPr>
        </p:nvSpPr>
        <p:spPr/>
        <p:txBody>
          <a:bodyPr/>
          <a:lstStyle/>
          <a:p>
            <a:r>
              <a:rPr lang="en-US" altLang="en-US" dirty="0"/>
              <a:t>Raised armies to conquer the northern regions of Arabian peninsula, taking on the Christian Byzantine Empire</a:t>
            </a:r>
          </a:p>
          <a:p>
            <a:r>
              <a:rPr lang="en-US" dirty="0"/>
              <a:t>Died in Medina in 632</a:t>
            </a:r>
          </a:p>
          <a:p>
            <a:pPr lvl="1"/>
            <a:r>
              <a:rPr lang="en-US" altLang="en-US" dirty="0"/>
              <a:t>Without a male heir and without naming a successor (or </a:t>
            </a:r>
            <a:r>
              <a:rPr lang="en-US" altLang="en-US" b="1" dirty="0"/>
              <a:t>caliph</a:t>
            </a:r>
            <a:r>
              <a:rPr lang="en-US" altLang="en-US" dirty="0"/>
              <a:t>)</a:t>
            </a:r>
          </a:p>
          <a:p>
            <a:pPr lvl="2"/>
            <a:r>
              <a:rPr lang="en-US" altLang="en-US" dirty="0"/>
              <a:t>Caliph would lead the community in its political and religious life</a:t>
            </a:r>
          </a:p>
          <a:p>
            <a:endParaRPr lang="en-US" altLang="en-US" dirty="0"/>
          </a:p>
          <a:p>
            <a:endParaRPr lang="en-US" dirty="0"/>
          </a:p>
        </p:txBody>
      </p:sp>
    </p:spTree>
    <p:extLst>
      <p:ext uri="{BB962C8B-B14F-4D97-AF65-F5344CB8AC3E}">
        <p14:creationId xmlns:p14="http://schemas.microsoft.com/office/powerpoint/2010/main" val="785060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2CEE9-F100-4C8D-9D11-06C86AEBC3C4}"/>
              </a:ext>
            </a:extLst>
          </p:cNvPr>
          <p:cNvSpPr>
            <a:spLocks noGrp="1"/>
          </p:cNvSpPr>
          <p:nvPr>
            <p:ph type="title"/>
          </p:nvPr>
        </p:nvSpPr>
        <p:spPr/>
        <p:txBody>
          <a:bodyPr>
            <a:normAutofit fontScale="90000"/>
          </a:bodyPr>
          <a:lstStyle/>
          <a:p>
            <a:r>
              <a:rPr lang="en-US" dirty="0"/>
              <a:t>Islam Immediately Following the Death of Muhammad (632-661)</a:t>
            </a:r>
          </a:p>
        </p:txBody>
      </p:sp>
      <p:sp>
        <p:nvSpPr>
          <p:cNvPr id="3" name="Content Placeholder 2">
            <a:extLst>
              <a:ext uri="{FF2B5EF4-FFF2-40B4-BE49-F238E27FC236}">
                <a16:creationId xmlns:a16="http://schemas.microsoft.com/office/drawing/2014/main" id="{AF62DC99-D5F3-4042-B8A7-C6BED13AC943}"/>
              </a:ext>
            </a:extLst>
          </p:cNvPr>
          <p:cNvSpPr>
            <a:spLocks noGrp="1"/>
          </p:cNvSpPr>
          <p:nvPr>
            <p:ph idx="1"/>
          </p:nvPr>
        </p:nvSpPr>
        <p:spPr>
          <a:xfrm>
            <a:off x="913795" y="1999149"/>
            <a:ext cx="10353762" cy="4058751"/>
          </a:xfrm>
        </p:spPr>
        <p:txBody>
          <a:bodyPr/>
          <a:lstStyle/>
          <a:p>
            <a:r>
              <a:rPr lang="en-US" dirty="0"/>
              <a:t>Without a designated successor, Islam plunged into political and religious crises</a:t>
            </a:r>
          </a:p>
          <a:p>
            <a:pPr lvl="1"/>
            <a:r>
              <a:rPr lang="en-US" dirty="0"/>
              <a:t>Note: State and Religion joined – so successor would be both religious and political leader</a:t>
            </a:r>
          </a:p>
          <a:p>
            <a:pPr lvl="1"/>
            <a:r>
              <a:rPr lang="en-US" dirty="0"/>
              <a:t>Islam soon divided into Shia (Shiite) and Sunna (Sunni)</a:t>
            </a:r>
          </a:p>
          <a:p>
            <a:r>
              <a:rPr lang="en-US" dirty="0"/>
              <a:t>After a period of uncertainty, a Caliph was selected</a:t>
            </a:r>
          </a:p>
          <a:p>
            <a:r>
              <a:rPr lang="en-US" dirty="0"/>
              <a:t>Caliphate traditionally divided into three periods:</a:t>
            </a:r>
          </a:p>
          <a:p>
            <a:pPr lvl="1"/>
            <a:r>
              <a:rPr lang="en-US" dirty="0"/>
              <a:t>The Rightly Guided Caliphs (632-661)</a:t>
            </a:r>
          </a:p>
          <a:p>
            <a:pPr lvl="1"/>
            <a:r>
              <a:rPr lang="en-US" dirty="0"/>
              <a:t>The Umayyad Empire (661-750)</a:t>
            </a:r>
          </a:p>
          <a:p>
            <a:pPr lvl="1"/>
            <a:r>
              <a:rPr lang="en-US" dirty="0"/>
              <a:t>Abbasid Empire (750-1258)</a:t>
            </a:r>
          </a:p>
        </p:txBody>
      </p:sp>
    </p:spTree>
    <p:extLst>
      <p:ext uri="{BB962C8B-B14F-4D97-AF65-F5344CB8AC3E}">
        <p14:creationId xmlns:p14="http://schemas.microsoft.com/office/powerpoint/2010/main" val="2893925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AFED-E712-454B-914B-3417F677773C}"/>
              </a:ext>
            </a:extLst>
          </p:cNvPr>
          <p:cNvSpPr>
            <a:spLocks noGrp="1"/>
          </p:cNvSpPr>
          <p:nvPr>
            <p:ph type="title"/>
          </p:nvPr>
        </p:nvSpPr>
        <p:spPr/>
        <p:txBody>
          <a:bodyPr/>
          <a:lstStyle/>
          <a:p>
            <a:r>
              <a:rPr lang="en-US" dirty="0"/>
              <a:t>Rightly Guided Caliphs</a:t>
            </a:r>
          </a:p>
        </p:txBody>
      </p:sp>
      <p:sp>
        <p:nvSpPr>
          <p:cNvPr id="3" name="Content Placeholder 2">
            <a:extLst>
              <a:ext uri="{FF2B5EF4-FFF2-40B4-BE49-F238E27FC236}">
                <a16:creationId xmlns:a16="http://schemas.microsoft.com/office/drawing/2014/main" id="{8884B744-8F3D-43DB-987A-F17828F38E82}"/>
              </a:ext>
            </a:extLst>
          </p:cNvPr>
          <p:cNvSpPr>
            <a:spLocks noGrp="1"/>
          </p:cNvSpPr>
          <p:nvPr>
            <p:ph idx="1"/>
          </p:nvPr>
        </p:nvSpPr>
        <p:spPr/>
        <p:txBody>
          <a:bodyPr/>
          <a:lstStyle/>
          <a:p>
            <a:r>
              <a:rPr lang="en-US" dirty="0"/>
              <a:t>First four Caliphs were all original companions of the Prophet</a:t>
            </a:r>
          </a:p>
          <a:p>
            <a:r>
              <a:rPr lang="en-US" dirty="0"/>
              <a:t>Abu Bakr selected as first Caliph</a:t>
            </a:r>
          </a:p>
          <a:p>
            <a:pPr lvl="1"/>
            <a:r>
              <a:rPr lang="en-US" dirty="0"/>
              <a:t>Muhammad had appointed him to be the leader of the Friday prayer service in his absence</a:t>
            </a:r>
          </a:p>
          <a:p>
            <a:pPr lvl="1"/>
            <a:r>
              <a:rPr lang="en-US" dirty="0"/>
              <a:t>Although not considered a prophet, he had great religious prestige</a:t>
            </a:r>
          </a:p>
          <a:p>
            <a:r>
              <a:rPr lang="en-US" dirty="0"/>
              <a:t>Wars of Apostacy</a:t>
            </a:r>
          </a:p>
          <a:p>
            <a:pPr lvl="1"/>
            <a:r>
              <a:rPr lang="en-US" dirty="0"/>
              <a:t>Tribal pacts began to unravel</a:t>
            </a:r>
          </a:p>
          <a:p>
            <a:pPr lvl="1"/>
            <a:r>
              <a:rPr lang="en-US" dirty="0"/>
              <a:t>Abu Bakr put down revolts militarily</a:t>
            </a:r>
          </a:p>
          <a:p>
            <a:pPr lvl="1"/>
            <a:r>
              <a:rPr lang="en-US" dirty="0"/>
              <a:t>Consolidated Muslim rule over entire peninsula</a:t>
            </a:r>
          </a:p>
          <a:p>
            <a:r>
              <a:rPr lang="en-US" dirty="0"/>
              <a:t>Died after only two years, succeeded by Umar ibn al-Khattab</a:t>
            </a:r>
          </a:p>
        </p:txBody>
      </p:sp>
    </p:spTree>
    <p:extLst>
      <p:ext uri="{BB962C8B-B14F-4D97-AF65-F5344CB8AC3E}">
        <p14:creationId xmlns:p14="http://schemas.microsoft.com/office/powerpoint/2010/main" val="210156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AFED-E712-454B-914B-3417F677773C}"/>
              </a:ext>
            </a:extLst>
          </p:cNvPr>
          <p:cNvSpPr>
            <a:spLocks noGrp="1"/>
          </p:cNvSpPr>
          <p:nvPr>
            <p:ph type="title"/>
          </p:nvPr>
        </p:nvSpPr>
        <p:spPr/>
        <p:txBody>
          <a:bodyPr/>
          <a:lstStyle/>
          <a:p>
            <a:r>
              <a:rPr lang="en-US" dirty="0"/>
              <a:t>Rightly Guided Caliphs</a:t>
            </a:r>
          </a:p>
        </p:txBody>
      </p:sp>
      <p:sp>
        <p:nvSpPr>
          <p:cNvPr id="3" name="Content Placeholder 2">
            <a:extLst>
              <a:ext uri="{FF2B5EF4-FFF2-40B4-BE49-F238E27FC236}">
                <a16:creationId xmlns:a16="http://schemas.microsoft.com/office/drawing/2014/main" id="{8884B744-8F3D-43DB-987A-F17828F38E82}"/>
              </a:ext>
            </a:extLst>
          </p:cNvPr>
          <p:cNvSpPr>
            <a:spLocks noGrp="1"/>
          </p:cNvSpPr>
          <p:nvPr>
            <p:ph idx="1"/>
          </p:nvPr>
        </p:nvSpPr>
        <p:spPr/>
        <p:txBody>
          <a:bodyPr/>
          <a:lstStyle/>
          <a:p>
            <a:r>
              <a:rPr lang="en-US" dirty="0"/>
              <a:t>Umar ibn al Khattab</a:t>
            </a:r>
          </a:p>
          <a:p>
            <a:pPr lvl="1"/>
            <a:r>
              <a:rPr lang="en-US" dirty="0"/>
              <a:t>Military man,  added “commander of the faithful” to his titles</a:t>
            </a:r>
          </a:p>
          <a:p>
            <a:pPr lvl="1"/>
            <a:r>
              <a:rPr lang="en-US" dirty="0"/>
              <a:t>Established a process to choose caliph (selection committee)</a:t>
            </a:r>
          </a:p>
          <a:p>
            <a:r>
              <a:rPr lang="en-US" dirty="0"/>
              <a:t>Uthman ibn </a:t>
            </a:r>
            <a:r>
              <a:rPr lang="en-US" dirty="0" err="1"/>
              <a:t>Affan</a:t>
            </a:r>
            <a:r>
              <a:rPr lang="en-US" dirty="0"/>
              <a:t> from Umayyad clan selected as 3</a:t>
            </a:r>
            <a:r>
              <a:rPr lang="en-US" baseline="30000" dirty="0"/>
              <a:t>rd</a:t>
            </a:r>
            <a:r>
              <a:rPr lang="en-US" dirty="0"/>
              <a:t> Caliph</a:t>
            </a:r>
          </a:p>
          <a:p>
            <a:pPr lvl="1"/>
            <a:r>
              <a:rPr lang="en-US" dirty="0"/>
              <a:t>Leading Meccan family and early enemy of the Prophet</a:t>
            </a:r>
          </a:p>
          <a:p>
            <a:pPr lvl="1"/>
            <a:r>
              <a:rPr lang="en-US" dirty="0"/>
              <a:t>Many resented the Caliph being selected from this clan</a:t>
            </a:r>
          </a:p>
          <a:p>
            <a:pPr lvl="1"/>
            <a:r>
              <a:rPr lang="en-US" dirty="0"/>
              <a:t>Uthman assassinated in 656, begins series of murders and rebellions that plague early development of Islam</a:t>
            </a:r>
          </a:p>
        </p:txBody>
      </p:sp>
    </p:spTree>
    <p:extLst>
      <p:ext uri="{BB962C8B-B14F-4D97-AF65-F5344CB8AC3E}">
        <p14:creationId xmlns:p14="http://schemas.microsoft.com/office/powerpoint/2010/main" val="2696681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AFED-E712-454B-914B-3417F677773C}"/>
              </a:ext>
            </a:extLst>
          </p:cNvPr>
          <p:cNvSpPr>
            <a:spLocks noGrp="1"/>
          </p:cNvSpPr>
          <p:nvPr>
            <p:ph type="title"/>
          </p:nvPr>
        </p:nvSpPr>
        <p:spPr/>
        <p:txBody>
          <a:bodyPr/>
          <a:lstStyle/>
          <a:p>
            <a:r>
              <a:rPr lang="en-US" dirty="0"/>
              <a:t>Rightly Guided Caliphs</a:t>
            </a:r>
          </a:p>
        </p:txBody>
      </p:sp>
      <p:sp>
        <p:nvSpPr>
          <p:cNvPr id="3" name="Content Placeholder 2">
            <a:extLst>
              <a:ext uri="{FF2B5EF4-FFF2-40B4-BE49-F238E27FC236}">
                <a16:creationId xmlns:a16="http://schemas.microsoft.com/office/drawing/2014/main" id="{8884B744-8F3D-43DB-987A-F17828F38E82}"/>
              </a:ext>
            </a:extLst>
          </p:cNvPr>
          <p:cNvSpPr>
            <a:spLocks noGrp="1"/>
          </p:cNvSpPr>
          <p:nvPr>
            <p:ph idx="1"/>
          </p:nvPr>
        </p:nvSpPr>
        <p:spPr/>
        <p:txBody>
          <a:bodyPr/>
          <a:lstStyle/>
          <a:p>
            <a:r>
              <a:rPr lang="en-US" dirty="0">
                <a:effectLst>
                  <a:outerShdw blurRad="38100" dist="38100" dir="2700000" algn="tl">
                    <a:srgbClr val="000000">
                      <a:alpha val="43137"/>
                    </a:srgbClr>
                  </a:outerShdw>
                </a:effectLst>
              </a:rPr>
              <a:t>Ali ibn Abi Talib </a:t>
            </a:r>
            <a:r>
              <a:rPr lang="en-US" dirty="0">
                <a:effectLst>
                  <a:outerShdw blurRad="38100" dist="38100" dir="2700000" algn="tl" rotWithShape="0">
                    <a:srgbClr val="000000">
                      <a:alpha val="43137"/>
                    </a:srgbClr>
                  </a:outerShdw>
                </a:effectLst>
              </a:rPr>
              <a:t>selected as 4</a:t>
            </a:r>
            <a:r>
              <a:rPr lang="en-US" baseline="30000" dirty="0">
                <a:effectLst>
                  <a:outerShdw blurRad="38100" dist="38100" dir="2700000" algn="tl" rotWithShape="0">
                    <a:srgbClr val="000000">
                      <a:alpha val="43137"/>
                    </a:srgbClr>
                  </a:outerShdw>
                </a:effectLst>
              </a:rPr>
              <a:t>th</a:t>
            </a:r>
            <a:r>
              <a:rPr lang="en-US" dirty="0">
                <a:effectLst>
                  <a:outerShdw blurRad="38100" dist="38100" dir="2700000" algn="tl" rotWithShape="0">
                    <a:srgbClr val="000000">
                      <a:alpha val="43137"/>
                    </a:srgbClr>
                  </a:outerShdw>
                </a:effectLst>
              </a:rPr>
              <a:t> Caliph</a:t>
            </a:r>
          </a:p>
          <a:p>
            <a:pPr lvl="1"/>
            <a:r>
              <a:rPr lang="en-US" dirty="0"/>
              <a:t>Cousin and son-in-law to the Prophet, first male convert to Islam</a:t>
            </a:r>
          </a:p>
          <a:p>
            <a:r>
              <a:rPr lang="en-US" dirty="0"/>
              <a:t>Many of his supporters believed leadership should remain in family of Muhammad</a:t>
            </a:r>
          </a:p>
          <a:p>
            <a:pPr lvl="1"/>
            <a:r>
              <a:rPr lang="en-US" dirty="0"/>
              <a:t>Belief that Muhammad had actually designated Ali as rightful successor, but was denied his rightful inheritance by the first three Caliphs</a:t>
            </a:r>
          </a:p>
          <a:p>
            <a:r>
              <a:rPr lang="en-US" dirty="0"/>
              <a:t>Supporters of Ali become known as Shia</a:t>
            </a:r>
          </a:p>
        </p:txBody>
      </p:sp>
    </p:spTree>
    <p:extLst>
      <p:ext uri="{BB962C8B-B14F-4D97-AF65-F5344CB8AC3E}">
        <p14:creationId xmlns:p14="http://schemas.microsoft.com/office/powerpoint/2010/main" val="2170873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AFED-E712-454B-914B-3417F677773C}"/>
              </a:ext>
            </a:extLst>
          </p:cNvPr>
          <p:cNvSpPr>
            <a:spLocks noGrp="1"/>
          </p:cNvSpPr>
          <p:nvPr>
            <p:ph type="title"/>
          </p:nvPr>
        </p:nvSpPr>
        <p:spPr/>
        <p:txBody>
          <a:bodyPr/>
          <a:lstStyle/>
          <a:p>
            <a:r>
              <a:rPr lang="en-US" dirty="0"/>
              <a:t>Rightly Guided Caliphs</a:t>
            </a:r>
          </a:p>
        </p:txBody>
      </p:sp>
      <p:sp>
        <p:nvSpPr>
          <p:cNvPr id="3" name="Content Placeholder 2">
            <a:extLst>
              <a:ext uri="{FF2B5EF4-FFF2-40B4-BE49-F238E27FC236}">
                <a16:creationId xmlns:a16="http://schemas.microsoft.com/office/drawing/2014/main" id="{8884B744-8F3D-43DB-987A-F17828F38E82}"/>
              </a:ext>
            </a:extLst>
          </p:cNvPr>
          <p:cNvSpPr>
            <a:spLocks noGrp="1"/>
          </p:cNvSpPr>
          <p:nvPr>
            <p:ph idx="1"/>
          </p:nvPr>
        </p:nvSpPr>
        <p:spPr/>
        <p:txBody>
          <a:bodyPr/>
          <a:lstStyle/>
          <a:p>
            <a:r>
              <a:rPr lang="en-US" dirty="0"/>
              <a:t>Two civil wars, both on pretext that Ali failed to find and prosecute the assassins of Uthman</a:t>
            </a:r>
          </a:p>
          <a:p>
            <a:r>
              <a:rPr lang="en-US" dirty="0"/>
              <a:t>First one led by Aisha, Muhammad’s youngest wife</a:t>
            </a:r>
          </a:p>
          <a:p>
            <a:pPr lvl="1"/>
            <a:r>
              <a:rPr lang="en-US" dirty="0"/>
              <a:t>Crushed at the “Battle of the Camel” – so called because the battle took place around the camel that Aisha was riding</a:t>
            </a:r>
          </a:p>
          <a:p>
            <a:r>
              <a:rPr lang="en-US" dirty="0"/>
              <a:t>Second one led by </a:t>
            </a:r>
            <a:r>
              <a:rPr lang="en-US" dirty="0" err="1"/>
              <a:t>Muawiyah</a:t>
            </a:r>
            <a:r>
              <a:rPr lang="en-US" dirty="0"/>
              <a:t>, a relative of the Umayyad clan</a:t>
            </a:r>
          </a:p>
          <a:p>
            <a:pPr lvl="1"/>
            <a:r>
              <a:rPr lang="en-US" dirty="0"/>
              <a:t>Soldiers begged for arbitration by placing the Quran on their swords</a:t>
            </a:r>
          </a:p>
          <a:p>
            <a:pPr lvl="1"/>
            <a:r>
              <a:rPr lang="en-US" dirty="0"/>
              <a:t>Arbitration left </a:t>
            </a:r>
            <a:r>
              <a:rPr lang="en-US" dirty="0" err="1"/>
              <a:t>Muawiyah</a:t>
            </a:r>
            <a:r>
              <a:rPr lang="en-US" dirty="0"/>
              <a:t> as governor of Syria, then extended rule into Egypt</a:t>
            </a:r>
          </a:p>
          <a:p>
            <a:r>
              <a:rPr lang="en-US" dirty="0"/>
              <a:t>A group critical of Ali for failing to punish </a:t>
            </a:r>
            <a:r>
              <a:rPr lang="en-US" dirty="0" err="1"/>
              <a:t>Muawiyah</a:t>
            </a:r>
            <a:r>
              <a:rPr lang="en-US" dirty="0"/>
              <a:t> assassinates him in 661</a:t>
            </a:r>
          </a:p>
        </p:txBody>
      </p:sp>
    </p:spTree>
    <p:extLst>
      <p:ext uri="{BB962C8B-B14F-4D97-AF65-F5344CB8AC3E}">
        <p14:creationId xmlns:p14="http://schemas.microsoft.com/office/powerpoint/2010/main" val="2368997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2AFED-E712-454B-914B-3417F677773C}"/>
              </a:ext>
            </a:extLst>
          </p:cNvPr>
          <p:cNvSpPr>
            <a:spLocks noGrp="1"/>
          </p:cNvSpPr>
          <p:nvPr>
            <p:ph type="title"/>
          </p:nvPr>
        </p:nvSpPr>
        <p:spPr/>
        <p:txBody>
          <a:bodyPr/>
          <a:lstStyle/>
          <a:p>
            <a:r>
              <a:rPr lang="en-US" dirty="0"/>
              <a:t>Rightly Guided Caliphs</a:t>
            </a:r>
          </a:p>
        </p:txBody>
      </p:sp>
      <p:sp>
        <p:nvSpPr>
          <p:cNvPr id="3" name="Content Placeholder 2">
            <a:extLst>
              <a:ext uri="{FF2B5EF4-FFF2-40B4-BE49-F238E27FC236}">
                <a16:creationId xmlns:a16="http://schemas.microsoft.com/office/drawing/2014/main" id="{8884B744-8F3D-43DB-987A-F17828F38E82}"/>
              </a:ext>
            </a:extLst>
          </p:cNvPr>
          <p:cNvSpPr>
            <a:spLocks noGrp="1"/>
          </p:cNvSpPr>
          <p:nvPr>
            <p:ph idx="1"/>
          </p:nvPr>
        </p:nvSpPr>
        <p:spPr/>
        <p:txBody>
          <a:bodyPr/>
          <a:lstStyle/>
          <a:p>
            <a:r>
              <a:rPr lang="en-US" dirty="0"/>
              <a:t>Muawiya assumes religious authority; transfer power to Damascus beginning Umayyad Dynasty</a:t>
            </a:r>
          </a:p>
          <a:p>
            <a:r>
              <a:rPr lang="en-US" dirty="0"/>
              <a:t>Frustrated belief that leadership should remain with Muhammad’s family gives rise to schism</a:t>
            </a:r>
          </a:p>
          <a:p>
            <a:pPr lvl="1"/>
            <a:r>
              <a:rPr lang="en-US" dirty="0"/>
              <a:t>Shia – minority branch of Islam which holds that Muhammad’s genuine successors descended from his son-in-law Ali</a:t>
            </a:r>
          </a:p>
          <a:p>
            <a:pPr lvl="1"/>
            <a:r>
              <a:rPr lang="en-US" dirty="0"/>
              <a:t>Sunna – majority branch of Islam which holds that genuine succession from Muhammad did not depend on hereditary descent from his son-in-law</a:t>
            </a:r>
          </a:p>
          <a:p>
            <a:r>
              <a:rPr lang="en-US" dirty="0"/>
              <a:t>From earliest time, Islam linked to political authority – now Islam linked to Empire</a:t>
            </a:r>
          </a:p>
          <a:p>
            <a:pPr lvl="1"/>
            <a:r>
              <a:rPr lang="en-US" dirty="0"/>
              <a:t>Caliphate becomes absolute monarchy with political, military, judicial, fiscal, and religious control over the various conquered peoples</a:t>
            </a:r>
          </a:p>
          <a:p>
            <a:endParaRPr lang="en-US" dirty="0"/>
          </a:p>
        </p:txBody>
      </p:sp>
    </p:spTree>
    <p:extLst>
      <p:ext uri="{BB962C8B-B14F-4D97-AF65-F5344CB8AC3E}">
        <p14:creationId xmlns:p14="http://schemas.microsoft.com/office/powerpoint/2010/main" val="2947424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67F46-57C7-4A26-9FE8-A5061000F556}"/>
              </a:ext>
            </a:extLst>
          </p:cNvPr>
          <p:cNvSpPr>
            <a:spLocks noGrp="1"/>
          </p:cNvSpPr>
          <p:nvPr>
            <p:ph type="title"/>
          </p:nvPr>
        </p:nvSpPr>
        <p:spPr/>
        <p:txBody>
          <a:bodyPr/>
          <a:lstStyle/>
          <a:p>
            <a:r>
              <a:rPr lang="en-US" dirty="0"/>
              <a:t>Umayyad Dynasty</a:t>
            </a:r>
          </a:p>
        </p:txBody>
      </p:sp>
      <p:sp>
        <p:nvSpPr>
          <p:cNvPr id="3" name="Content Placeholder 2">
            <a:extLst>
              <a:ext uri="{FF2B5EF4-FFF2-40B4-BE49-F238E27FC236}">
                <a16:creationId xmlns:a16="http://schemas.microsoft.com/office/drawing/2014/main" id="{F6DFF889-FA02-4790-8B14-EBEBA9C12DE5}"/>
              </a:ext>
            </a:extLst>
          </p:cNvPr>
          <p:cNvSpPr>
            <a:spLocks noGrp="1"/>
          </p:cNvSpPr>
          <p:nvPr>
            <p:ph idx="1"/>
          </p:nvPr>
        </p:nvSpPr>
        <p:spPr/>
        <p:txBody>
          <a:bodyPr/>
          <a:lstStyle/>
          <a:p>
            <a:r>
              <a:rPr lang="en-US" dirty="0"/>
              <a:t>Nature of Empire is expansion – By the time </a:t>
            </a:r>
            <a:r>
              <a:rPr lang="en-US" dirty="0" err="1"/>
              <a:t>Muawiyah</a:t>
            </a:r>
            <a:r>
              <a:rPr lang="en-US" dirty="0"/>
              <a:t> seized power, Muslims had already spread to: Egypt, Libya, the Fertile Crescent, Syria, Iraq, and Persia</a:t>
            </a:r>
          </a:p>
          <a:p>
            <a:r>
              <a:rPr lang="en-US" dirty="0"/>
              <a:t>Under the Umayyad Dynasty, Muslims conquered the Maghreb (North Africa), the Iberian </a:t>
            </a:r>
            <a:r>
              <a:rPr lang="en-US" dirty="0" err="1"/>
              <a:t>Penninsula</a:t>
            </a:r>
            <a:r>
              <a:rPr lang="en-US" dirty="0"/>
              <a:t>, extended into the Indian Subcontinent and threatened Europe until they were halted in France at the Battle of Tours in 732 </a:t>
            </a:r>
          </a:p>
        </p:txBody>
      </p:sp>
    </p:spTree>
    <p:extLst>
      <p:ext uri="{BB962C8B-B14F-4D97-AF65-F5344CB8AC3E}">
        <p14:creationId xmlns:p14="http://schemas.microsoft.com/office/powerpoint/2010/main" val="835393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E370EB-D8E9-4233-A0A3-506E8709BF1C}"/>
              </a:ext>
            </a:extLst>
          </p:cNvPr>
          <p:cNvPicPr>
            <a:picLocks noGrp="1" noChangeAspect="1"/>
          </p:cNvPicPr>
          <p:nvPr>
            <p:ph idx="1"/>
          </p:nvPr>
        </p:nvPicPr>
        <p:blipFill>
          <a:blip r:embed="rId2"/>
          <a:stretch>
            <a:fillRect/>
          </a:stretch>
        </p:blipFill>
        <p:spPr>
          <a:xfrm>
            <a:off x="749147" y="-13495"/>
            <a:ext cx="10822901" cy="7648184"/>
          </a:xfrm>
        </p:spPr>
      </p:pic>
    </p:spTree>
    <p:extLst>
      <p:ext uri="{BB962C8B-B14F-4D97-AF65-F5344CB8AC3E}">
        <p14:creationId xmlns:p14="http://schemas.microsoft.com/office/powerpoint/2010/main" val="8450757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67F46-57C7-4A26-9FE8-A5061000F556}"/>
              </a:ext>
            </a:extLst>
          </p:cNvPr>
          <p:cNvSpPr>
            <a:spLocks noGrp="1"/>
          </p:cNvSpPr>
          <p:nvPr>
            <p:ph type="title"/>
          </p:nvPr>
        </p:nvSpPr>
        <p:spPr/>
        <p:txBody>
          <a:bodyPr/>
          <a:lstStyle/>
          <a:p>
            <a:r>
              <a:rPr lang="en-US" dirty="0"/>
              <a:t>Umayyad Dynasty</a:t>
            </a:r>
          </a:p>
        </p:txBody>
      </p:sp>
      <p:sp>
        <p:nvSpPr>
          <p:cNvPr id="3" name="Content Placeholder 2">
            <a:extLst>
              <a:ext uri="{FF2B5EF4-FFF2-40B4-BE49-F238E27FC236}">
                <a16:creationId xmlns:a16="http://schemas.microsoft.com/office/drawing/2014/main" id="{F6DFF889-FA02-4790-8B14-EBEBA9C12DE5}"/>
              </a:ext>
            </a:extLst>
          </p:cNvPr>
          <p:cNvSpPr>
            <a:spLocks noGrp="1"/>
          </p:cNvSpPr>
          <p:nvPr>
            <p:ph idx="1"/>
          </p:nvPr>
        </p:nvSpPr>
        <p:spPr/>
        <p:txBody>
          <a:bodyPr/>
          <a:lstStyle/>
          <a:p>
            <a:r>
              <a:rPr lang="en-US" dirty="0"/>
              <a:t>Nature of Empire is expansion – By the time </a:t>
            </a:r>
            <a:r>
              <a:rPr lang="en-US" dirty="0" err="1"/>
              <a:t>Muawiyah</a:t>
            </a:r>
            <a:r>
              <a:rPr lang="en-US" dirty="0"/>
              <a:t> seized power, Muslims had already spread to: Egypt, Libya, the Fertile Crescent, Syria, Iraq, and Persia</a:t>
            </a:r>
          </a:p>
          <a:p>
            <a:r>
              <a:rPr lang="en-US" dirty="0"/>
              <a:t>Under the Umayyad Dynasty, Muslims conquered the Maghreb (North Africa), the Iberian </a:t>
            </a:r>
            <a:r>
              <a:rPr lang="en-US" dirty="0" err="1"/>
              <a:t>Penninsula</a:t>
            </a:r>
            <a:r>
              <a:rPr lang="en-US" dirty="0"/>
              <a:t>, extended into the Indian Subcontinent and threatened Europe until they were halted in France at the Battle of Tours in 732 </a:t>
            </a:r>
          </a:p>
          <a:p>
            <a:r>
              <a:rPr lang="en-US" altLang="en-US" dirty="0"/>
              <a:t>Sunni leadership belonged to Umayyad tribe from 661 to 750 C.E. </a:t>
            </a:r>
          </a:p>
          <a:p>
            <a:pPr lvl="1"/>
            <a:r>
              <a:rPr lang="en-US" altLang="en-US" dirty="0"/>
              <a:t>Remained united for two centuries after Muhammad’s death</a:t>
            </a:r>
          </a:p>
        </p:txBody>
      </p:sp>
    </p:spTree>
    <p:extLst>
      <p:ext uri="{BB962C8B-B14F-4D97-AF65-F5344CB8AC3E}">
        <p14:creationId xmlns:p14="http://schemas.microsoft.com/office/powerpoint/2010/main" val="3502782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C26C-4903-4AC1-9EC7-194743DC0025}"/>
              </a:ext>
            </a:extLst>
          </p:cNvPr>
          <p:cNvSpPr>
            <a:spLocks noGrp="1"/>
          </p:cNvSpPr>
          <p:nvPr>
            <p:ph type="title"/>
          </p:nvPr>
        </p:nvSpPr>
        <p:spPr/>
        <p:txBody>
          <a:bodyPr/>
          <a:lstStyle/>
          <a:p>
            <a:r>
              <a:rPr lang="en-US" dirty="0"/>
              <a:t>Umayyad Dynasty</a:t>
            </a:r>
          </a:p>
        </p:txBody>
      </p:sp>
      <p:sp>
        <p:nvSpPr>
          <p:cNvPr id="3" name="Content Placeholder 2">
            <a:extLst>
              <a:ext uri="{FF2B5EF4-FFF2-40B4-BE49-F238E27FC236}">
                <a16:creationId xmlns:a16="http://schemas.microsoft.com/office/drawing/2014/main" id="{EA3FE199-D106-4E65-B0E0-DF4A3CE6F565}"/>
              </a:ext>
            </a:extLst>
          </p:cNvPr>
          <p:cNvSpPr>
            <a:spLocks noGrp="1"/>
          </p:cNvSpPr>
          <p:nvPr>
            <p:ph idx="1"/>
          </p:nvPr>
        </p:nvSpPr>
        <p:spPr/>
        <p:txBody>
          <a:bodyPr/>
          <a:lstStyle/>
          <a:p>
            <a:r>
              <a:rPr lang="en-US" dirty="0"/>
              <a:t>Arabic Muslims given preferential treatment; non-Arabic Muslims and the dhimmi were treated as second class citizens</a:t>
            </a:r>
          </a:p>
          <a:p>
            <a:endParaRPr lang="en-US" dirty="0"/>
          </a:p>
          <a:p>
            <a:endParaRPr lang="en-US" dirty="0"/>
          </a:p>
          <a:p>
            <a:endParaRPr lang="en-US" dirty="0"/>
          </a:p>
          <a:p>
            <a:r>
              <a:rPr lang="en-US" dirty="0"/>
              <a:t>A revolutionary movement arose, the dynasty fell and Abu al-Abbas, a descendant of the Prophet’s uncle was declared Caliph</a:t>
            </a:r>
          </a:p>
          <a:p>
            <a:r>
              <a:rPr lang="en-US" dirty="0"/>
              <a:t>The capital moved to Baghdad establishing the Abbasid Caliphate</a:t>
            </a:r>
          </a:p>
          <a:p>
            <a:pPr marL="36900" indent="0">
              <a:buNone/>
            </a:pPr>
            <a:endParaRPr lang="en-US" dirty="0"/>
          </a:p>
        </p:txBody>
      </p:sp>
      <p:sp>
        <p:nvSpPr>
          <p:cNvPr id="4" name="Rectangle: Rounded Corners 3">
            <a:extLst>
              <a:ext uri="{FF2B5EF4-FFF2-40B4-BE49-F238E27FC236}">
                <a16:creationId xmlns:a16="http://schemas.microsoft.com/office/drawing/2014/main" id="{83F25C14-E22B-494C-A2A5-C988429BA27A}"/>
              </a:ext>
            </a:extLst>
          </p:cNvPr>
          <p:cNvSpPr/>
          <p:nvPr/>
        </p:nvSpPr>
        <p:spPr>
          <a:xfrm>
            <a:off x="1123720" y="2721166"/>
            <a:ext cx="9970266" cy="7078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Dhimmi: Jewish and Christian communities living under Muslim rule</a:t>
            </a:r>
          </a:p>
        </p:txBody>
      </p:sp>
    </p:spTree>
    <p:extLst>
      <p:ext uri="{BB962C8B-B14F-4D97-AF65-F5344CB8AC3E}">
        <p14:creationId xmlns:p14="http://schemas.microsoft.com/office/powerpoint/2010/main" val="9815426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1EC99-6F41-44CC-9940-680F848EB9AE}"/>
              </a:ext>
            </a:extLst>
          </p:cNvPr>
          <p:cNvSpPr>
            <a:spLocks noGrp="1"/>
          </p:cNvSpPr>
          <p:nvPr>
            <p:ph type="title"/>
          </p:nvPr>
        </p:nvSpPr>
        <p:spPr/>
        <p:txBody>
          <a:bodyPr/>
          <a:lstStyle/>
          <a:p>
            <a:r>
              <a:rPr lang="en-US" dirty="0"/>
              <a:t>Abbasid Caliphate</a:t>
            </a:r>
          </a:p>
        </p:txBody>
      </p:sp>
      <p:sp>
        <p:nvSpPr>
          <p:cNvPr id="3" name="Content Placeholder 2">
            <a:extLst>
              <a:ext uri="{FF2B5EF4-FFF2-40B4-BE49-F238E27FC236}">
                <a16:creationId xmlns:a16="http://schemas.microsoft.com/office/drawing/2014/main" id="{D79C8C86-3374-4A05-97AA-F7BA563E249A}"/>
              </a:ext>
            </a:extLst>
          </p:cNvPr>
          <p:cNvSpPr>
            <a:spLocks noGrp="1"/>
          </p:cNvSpPr>
          <p:nvPr>
            <p:ph idx="1"/>
          </p:nvPr>
        </p:nvSpPr>
        <p:spPr/>
        <p:txBody>
          <a:bodyPr/>
          <a:lstStyle/>
          <a:p>
            <a:r>
              <a:rPr lang="en-US" dirty="0"/>
              <a:t>Abbasids used Islam to legitimize power – great patrons of Islam</a:t>
            </a:r>
          </a:p>
          <a:p>
            <a:pPr lvl="1"/>
            <a:r>
              <a:rPr lang="en-US" dirty="0"/>
              <a:t>Emergence of Islamic scholarship, mosques, and schools</a:t>
            </a:r>
          </a:p>
          <a:p>
            <a:r>
              <a:rPr lang="en-US" dirty="0"/>
              <a:t>Syrian influence replaced by Persian</a:t>
            </a:r>
          </a:p>
          <a:p>
            <a:pPr lvl="1"/>
            <a:r>
              <a:rPr lang="en-US" dirty="0"/>
              <a:t>Caliphate took on court etiquette of a Persian Emperor</a:t>
            </a:r>
          </a:p>
          <a:p>
            <a:r>
              <a:rPr lang="en-US" dirty="0"/>
              <a:t>Enormous wealth allowed them to be generous patrons of arts and culture</a:t>
            </a:r>
          </a:p>
          <a:p>
            <a:r>
              <a:rPr lang="en-US" dirty="0"/>
              <a:t>Shariah (Islamic Law) more effectively instituted</a:t>
            </a:r>
          </a:p>
          <a:p>
            <a:pPr lvl="1"/>
            <a:r>
              <a:rPr lang="en-US" dirty="0"/>
              <a:t>The Ulema (specialist in Islamic law and theology) become religious elite</a:t>
            </a:r>
          </a:p>
          <a:p>
            <a:r>
              <a:rPr lang="en-US" dirty="0"/>
              <a:t>Arabic displaced local languages; world literature translated into Arabic</a:t>
            </a:r>
          </a:p>
        </p:txBody>
      </p:sp>
    </p:spTree>
    <p:extLst>
      <p:ext uri="{BB962C8B-B14F-4D97-AF65-F5344CB8AC3E}">
        <p14:creationId xmlns:p14="http://schemas.microsoft.com/office/powerpoint/2010/main" val="3503636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1EC99-6F41-44CC-9940-680F848EB9AE}"/>
              </a:ext>
            </a:extLst>
          </p:cNvPr>
          <p:cNvSpPr>
            <a:spLocks noGrp="1"/>
          </p:cNvSpPr>
          <p:nvPr>
            <p:ph type="title"/>
          </p:nvPr>
        </p:nvSpPr>
        <p:spPr/>
        <p:txBody>
          <a:bodyPr/>
          <a:lstStyle/>
          <a:p>
            <a:r>
              <a:rPr lang="en-US" dirty="0"/>
              <a:t>Abbasid Caliphate</a:t>
            </a:r>
          </a:p>
        </p:txBody>
      </p:sp>
      <p:sp>
        <p:nvSpPr>
          <p:cNvPr id="3" name="Content Placeholder 2">
            <a:extLst>
              <a:ext uri="{FF2B5EF4-FFF2-40B4-BE49-F238E27FC236}">
                <a16:creationId xmlns:a16="http://schemas.microsoft.com/office/drawing/2014/main" id="{D79C8C86-3374-4A05-97AA-F7BA563E249A}"/>
              </a:ext>
            </a:extLst>
          </p:cNvPr>
          <p:cNvSpPr>
            <a:spLocks noGrp="1"/>
          </p:cNvSpPr>
          <p:nvPr>
            <p:ph idx="1"/>
          </p:nvPr>
        </p:nvSpPr>
        <p:spPr/>
        <p:txBody>
          <a:bodyPr/>
          <a:lstStyle/>
          <a:p>
            <a:r>
              <a:rPr lang="en-US" altLang="en-US" dirty="0"/>
              <a:t>Abbasid rule ended when the Turks took power over Arab rule</a:t>
            </a:r>
          </a:p>
          <a:p>
            <a:pPr lvl="1"/>
            <a:r>
              <a:rPr lang="en-US" altLang="en-US" dirty="0"/>
              <a:t>Turks lost possession of Palestine during the </a:t>
            </a:r>
            <a:r>
              <a:rPr lang="en-US" altLang="en-US" b="1" dirty="0"/>
              <a:t>Crusades</a:t>
            </a:r>
          </a:p>
          <a:p>
            <a:r>
              <a:rPr lang="en-US" altLang="en-US" dirty="0"/>
              <a:t>Muslims conquered Constantinople, and Turkish Muslim control spread to India</a:t>
            </a:r>
          </a:p>
          <a:p>
            <a:r>
              <a:rPr lang="en-US" altLang="en-US" dirty="0"/>
              <a:t>Ottoman Turks took over the empire of Islam (1300–1923), but it collapsed after World War I</a:t>
            </a:r>
          </a:p>
          <a:p>
            <a:endParaRPr lang="en-US" dirty="0"/>
          </a:p>
        </p:txBody>
      </p:sp>
    </p:spTree>
    <p:extLst>
      <p:ext uri="{BB962C8B-B14F-4D97-AF65-F5344CB8AC3E}">
        <p14:creationId xmlns:p14="http://schemas.microsoft.com/office/powerpoint/2010/main" val="652627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History of Islam</a:t>
            </a:r>
          </a:p>
        </p:txBody>
      </p:sp>
      <p:sp>
        <p:nvSpPr>
          <p:cNvPr id="3" name="Subtitle 2"/>
          <p:cNvSpPr>
            <a:spLocks noGrp="1"/>
          </p:cNvSpPr>
          <p:nvPr>
            <p:ph type="subTitle" idx="1"/>
          </p:nvPr>
        </p:nvSpPr>
        <p:spPr/>
        <p:txBody>
          <a:bodyPr/>
          <a:lstStyle/>
          <a:p>
            <a:r>
              <a:t>From the Death of Muhammad to the Abbasid Caliphate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After Muhammad's Death (632-661)</a:t>
            </a:r>
          </a:p>
        </p:txBody>
      </p:sp>
      <p:sp>
        <p:nvSpPr>
          <p:cNvPr id="3" name="Content Placeholder 2"/>
          <p:cNvSpPr>
            <a:spLocks noGrp="1"/>
          </p:cNvSpPr>
          <p:nvPr>
            <p:ph idx="1"/>
          </p:nvPr>
        </p:nvSpPr>
        <p:spPr/>
        <p:txBody>
          <a:bodyPr/>
          <a:lstStyle/>
          <a:p>
            <a:r>
              <a:rPr dirty="0"/>
              <a:t>Crisis of Succession: </a:t>
            </a:r>
            <a:endParaRPr lang="en-US" dirty="0"/>
          </a:p>
          <a:p>
            <a:pPr lvl="1"/>
            <a:r>
              <a:rPr dirty="0"/>
              <a:t>No designated successor; </a:t>
            </a:r>
            <a:endParaRPr lang="en-US" dirty="0"/>
          </a:p>
          <a:p>
            <a:pPr lvl="1"/>
            <a:r>
              <a:rPr dirty="0"/>
              <a:t>political and religious uncertainty.</a:t>
            </a:r>
          </a:p>
          <a:p>
            <a:r>
              <a:rPr dirty="0"/>
              <a:t>Division of Islam: </a:t>
            </a:r>
            <a:endParaRPr lang="en-US" dirty="0"/>
          </a:p>
          <a:p>
            <a:pPr lvl="1"/>
            <a:r>
              <a:rPr dirty="0"/>
              <a:t>Shia (family leadership) vs. Sunni (non-hereditary leadership).</a:t>
            </a:r>
          </a:p>
          <a:p>
            <a:r>
              <a:rPr dirty="0"/>
              <a:t>Caliphate Periods:</a:t>
            </a:r>
          </a:p>
          <a:p>
            <a:pPr lvl="1"/>
            <a:r>
              <a:rPr dirty="0"/>
              <a:t>Rightly Guided Caliphs (632-661)</a:t>
            </a:r>
          </a:p>
          <a:p>
            <a:pPr lvl="1"/>
            <a:r>
              <a:rPr dirty="0"/>
              <a:t>Umayyad Dynasty (661-750)</a:t>
            </a:r>
          </a:p>
          <a:p>
            <a:pPr lvl="1"/>
            <a:r>
              <a:rPr lang="en-US" dirty="0"/>
              <a:t>A</a:t>
            </a:r>
            <a:r>
              <a:rPr dirty="0"/>
              <a:t>bbasid Empire (750-1258)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Rightly Guided Caliphs (632-661)</a:t>
            </a:r>
          </a:p>
        </p:txBody>
      </p:sp>
      <p:sp>
        <p:nvSpPr>
          <p:cNvPr id="3" name="Content Placeholder 2"/>
          <p:cNvSpPr>
            <a:spLocks noGrp="1"/>
          </p:cNvSpPr>
          <p:nvPr>
            <p:ph idx="1"/>
          </p:nvPr>
        </p:nvSpPr>
        <p:spPr>
          <a:xfrm>
            <a:off x="913795" y="1732449"/>
            <a:ext cx="10353762" cy="4515951"/>
          </a:xfrm>
        </p:spPr>
        <p:txBody>
          <a:bodyPr>
            <a:normAutofit/>
          </a:bodyPr>
          <a:lstStyle/>
          <a:p>
            <a:r>
              <a:rPr lang="en-US" sz="3200" dirty="0"/>
              <a:t>Abu Bakr: </a:t>
            </a:r>
          </a:p>
          <a:p>
            <a:pPr lvl="1"/>
            <a:r>
              <a:rPr lang="en-US" sz="2800" dirty="0"/>
              <a:t>Unified Arabian Peninsula; </a:t>
            </a:r>
          </a:p>
          <a:p>
            <a:pPr lvl="1"/>
            <a:r>
              <a:rPr lang="en-US" sz="2800" dirty="0"/>
              <a:t>Wars of Apostasy.</a:t>
            </a:r>
          </a:p>
          <a:p>
            <a:r>
              <a:rPr lang="en-US" sz="3200" dirty="0"/>
              <a:t>Umar ibn al-Khattab: </a:t>
            </a:r>
          </a:p>
          <a:p>
            <a:pPr lvl="1"/>
            <a:r>
              <a:rPr lang="en-US" sz="2800" dirty="0"/>
              <a:t>Expanded territory; extended Muslim rule into Syria, Egypt, and Persia</a:t>
            </a:r>
          </a:p>
          <a:p>
            <a:pPr lvl="1"/>
            <a:r>
              <a:rPr lang="en-US" sz="2800" dirty="0"/>
              <a:t>leadership selection process through a council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Rightly Guided Caliphs (632-661)</a:t>
            </a:r>
          </a:p>
        </p:txBody>
      </p:sp>
      <p:sp>
        <p:nvSpPr>
          <p:cNvPr id="3" name="Content Placeholder 2"/>
          <p:cNvSpPr>
            <a:spLocks noGrp="1"/>
          </p:cNvSpPr>
          <p:nvPr>
            <p:ph idx="1"/>
          </p:nvPr>
        </p:nvSpPr>
        <p:spPr>
          <a:xfrm>
            <a:off x="913795" y="1732449"/>
            <a:ext cx="10353762" cy="4515951"/>
          </a:xfrm>
        </p:spPr>
        <p:txBody>
          <a:bodyPr>
            <a:normAutofit/>
          </a:bodyPr>
          <a:lstStyle/>
          <a:p>
            <a:r>
              <a:rPr sz="3600" dirty="0"/>
              <a:t>Uthman ibn </a:t>
            </a:r>
            <a:r>
              <a:rPr sz="3600" dirty="0" err="1"/>
              <a:t>Affan</a:t>
            </a:r>
            <a:r>
              <a:rPr sz="3600" dirty="0"/>
              <a:t>: </a:t>
            </a:r>
            <a:endParaRPr lang="en-US" sz="3600" dirty="0"/>
          </a:p>
          <a:p>
            <a:pPr lvl="1"/>
            <a:r>
              <a:rPr sz="3200" dirty="0"/>
              <a:t>Umayyad clan; assassination triggered instability.</a:t>
            </a:r>
          </a:p>
          <a:p>
            <a:r>
              <a:rPr sz="3600" dirty="0"/>
              <a:t>Ali ibn Abi Talib: </a:t>
            </a:r>
            <a:endParaRPr lang="en-US" sz="3600" dirty="0"/>
          </a:p>
          <a:p>
            <a:pPr lvl="1"/>
            <a:r>
              <a:rPr sz="3200" dirty="0"/>
              <a:t>Muhammad’s cousin/son-in-law; </a:t>
            </a:r>
            <a:endParaRPr lang="en-US" sz="3200" dirty="0"/>
          </a:p>
          <a:p>
            <a:pPr lvl="1"/>
            <a:r>
              <a:rPr sz="3200" dirty="0"/>
              <a:t>civil wars; </a:t>
            </a:r>
            <a:endParaRPr lang="en-US" sz="3200" dirty="0"/>
          </a:p>
          <a:p>
            <a:pPr lvl="1"/>
            <a:r>
              <a:rPr sz="3200" dirty="0"/>
              <a:t>Shia-Sunni split.</a:t>
            </a:r>
            <a:endParaRPr dirty="0"/>
          </a:p>
        </p:txBody>
      </p:sp>
    </p:spTree>
    <p:extLst>
      <p:ext uri="{BB962C8B-B14F-4D97-AF65-F5344CB8AC3E}">
        <p14:creationId xmlns:p14="http://schemas.microsoft.com/office/powerpoint/2010/main" val="2055721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F7009-E4D4-46B9-B511-27C17919A0FB}"/>
              </a:ext>
            </a:extLst>
          </p:cNvPr>
          <p:cNvSpPr>
            <a:spLocks noGrp="1"/>
          </p:cNvSpPr>
          <p:nvPr>
            <p:ph type="title"/>
          </p:nvPr>
        </p:nvSpPr>
        <p:spPr/>
        <p:txBody>
          <a:bodyPr>
            <a:normAutofit fontScale="90000"/>
          </a:bodyPr>
          <a:lstStyle/>
          <a:p>
            <a:r>
              <a:rPr lang="en-US" dirty="0"/>
              <a:t>The Rise of </a:t>
            </a:r>
            <a:r>
              <a:rPr lang="en-US" dirty="0" err="1"/>
              <a:t>Muawiyah</a:t>
            </a:r>
            <a:r>
              <a:rPr lang="en-US" dirty="0"/>
              <a:t> and the Founding of the Umayyad Dynasty</a:t>
            </a:r>
          </a:p>
        </p:txBody>
      </p:sp>
      <p:sp>
        <p:nvSpPr>
          <p:cNvPr id="3" name="Content Placeholder 2">
            <a:extLst>
              <a:ext uri="{FF2B5EF4-FFF2-40B4-BE49-F238E27FC236}">
                <a16:creationId xmlns:a16="http://schemas.microsoft.com/office/drawing/2014/main" id="{85D1F358-E378-4B70-B5CC-4B41DEB889B7}"/>
              </a:ext>
            </a:extLst>
          </p:cNvPr>
          <p:cNvSpPr>
            <a:spLocks noGrp="1"/>
          </p:cNvSpPr>
          <p:nvPr>
            <p:ph idx="1"/>
          </p:nvPr>
        </p:nvSpPr>
        <p:spPr>
          <a:xfrm>
            <a:off x="913795" y="1732449"/>
            <a:ext cx="10353762" cy="4793857"/>
          </a:xfrm>
        </p:spPr>
        <p:txBody>
          <a:bodyPr>
            <a:normAutofit/>
          </a:bodyPr>
          <a:lstStyle/>
          <a:p>
            <a:r>
              <a:rPr lang="en-US" sz="2400" b="1" dirty="0"/>
              <a:t>Assassination of Ali (661):</a:t>
            </a:r>
            <a:r>
              <a:rPr lang="en-US" sz="2400" dirty="0"/>
              <a:t> </a:t>
            </a:r>
          </a:p>
          <a:p>
            <a:pPr lvl="1"/>
            <a:r>
              <a:rPr lang="en-US" sz="2000" dirty="0"/>
              <a:t>Ali was assassinated by the Kharijites, a radical group dissatisfied with his leadership. This marked the end of the Rightly Guided Caliphate and ushered in a new era of Islamic governance.</a:t>
            </a:r>
          </a:p>
          <a:p>
            <a:r>
              <a:rPr lang="en-US" sz="2400" b="1" dirty="0" err="1"/>
              <a:t>Muawiyah</a:t>
            </a:r>
            <a:r>
              <a:rPr lang="en-US" sz="2400" b="1" dirty="0"/>
              <a:t> I’s Ascension (661):</a:t>
            </a:r>
            <a:endParaRPr lang="en-US" sz="2400" dirty="0"/>
          </a:p>
          <a:p>
            <a:pPr lvl="1"/>
            <a:r>
              <a:rPr lang="en-US" sz="2000" dirty="0"/>
              <a:t>After Ali’s death, </a:t>
            </a:r>
            <a:r>
              <a:rPr lang="en-US" sz="2000" dirty="0" err="1"/>
              <a:t>Muawiyah</a:t>
            </a:r>
            <a:r>
              <a:rPr lang="en-US" sz="2000" dirty="0"/>
              <a:t>, governor of Syria and a member of the powerful Umayyad clan, claimed leadership.</a:t>
            </a:r>
          </a:p>
          <a:p>
            <a:pPr lvl="1"/>
            <a:r>
              <a:rPr lang="en-US" sz="2000" b="1" dirty="0"/>
              <a:t>Significance of </a:t>
            </a:r>
            <a:r>
              <a:rPr lang="en-US" sz="2000" b="1" dirty="0" err="1"/>
              <a:t>Muawiyah's</a:t>
            </a:r>
            <a:r>
              <a:rPr lang="en-US" sz="2000" b="1" dirty="0"/>
              <a:t> Rule:</a:t>
            </a:r>
            <a:r>
              <a:rPr lang="en-US" sz="2000" dirty="0"/>
              <a:t> </a:t>
            </a:r>
          </a:p>
          <a:p>
            <a:pPr lvl="2"/>
            <a:r>
              <a:rPr lang="en-US" sz="1800" dirty="0"/>
              <a:t>He negotiated with Hasan ibn Ali, Ali’s son and the Prophet’s grandson, to abdicate in exchange for peace and a promised return to elective leadership. However, </a:t>
            </a:r>
            <a:r>
              <a:rPr lang="en-US" sz="1800" dirty="0" err="1"/>
              <a:t>Muawiyah</a:t>
            </a:r>
            <a:r>
              <a:rPr lang="en-US" sz="1800" dirty="0"/>
              <a:t> established hereditary succession, breaking from this agreement.</a:t>
            </a:r>
          </a:p>
        </p:txBody>
      </p:sp>
    </p:spTree>
    <p:extLst>
      <p:ext uri="{BB962C8B-B14F-4D97-AF65-F5344CB8AC3E}">
        <p14:creationId xmlns:p14="http://schemas.microsoft.com/office/powerpoint/2010/main" val="888699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Umayyad Dynasty (661-750)</a:t>
            </a:r>
          </a:p>
        </p:txBody>
      </p:sp>
      <p:sp>
        <p:nvSpPr>
          <p:cNvPr id="3" name="Content Placeholder 2"/>
          <p:cNvSpPr>
            <a:spLocks noGrp="1"/>
          </p:cNvSpPr>
          <p:nvPr>
            <p:ph idx="1"/>
          </p:nvPr>
        </p:nvSpPr>
        <p:spPr/>
        <p:txBody>
          <a:bodyPr/>
          <a:lstStyle/>
          <a:p>
            <a:r>
              <a:rPr dirty="0"/>
              <a:t>Capital at Damascus; Islam became an empire.</a:t>
            </a:r>
          </a:p>
          <a:p>
            <a:r>
              <a:rPr dirty="0"/>
              <a:t>Expansion: </a:t>
            </a:r>
            <a:endParaRPr lang="en-US" dirty="0"/>
          </a:p>
          <a:p>
            <a:pPr lvl="1"/>
            <a:r>
              <a:rPr dirty="0"/>
              <a:t>North Africa, Iberian Peninsula, parts of India; Battle of Tours (732).</a:t>
            </a:r>
          </a:p>
          <a:p>
            <a:r>
              <a:rPr dirty="0"/>
              <a:t>Inequality: </a:t>
            </a:r>
            <a:endParaRPr lang="en-US" dirty="0"/>
          </a:p>
          <a:p>
            <a:pPr lvl="1"/>
            <a:r>
              <a:rPr dirty="0"/>
              <a:t>Arab Muslims favored; </a:t>
            </a:r>
            <a:endParaRPr lang="en-US" dirty="0"/>
          </a:p>
          <a:p>
            <a:pPr lvl="1"/>
            <a:r>
              <a:rPr dirty="0"/>
              <a:t>dhimmi (Jews, Christians) as second-class citizens.</a:t>
            </a:r>
          </a:p>
          <a:p>
            <a:r>
              <a:rPr dirty="0"/>
              <a:t>Decline: </a:t>
            </a:r>
            <a:endParaRPr lang="en-US" dirty="0"/>
          </a:p>
          <a:p>
            <a:pPr lvl="1"/>
            <a:r>
              <a:rPr dirty="0"/>
              <a:t>Revolution led to Abbasid rise.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Abbasid Caliphate (750-1258)</a:t>
            </a:r>
          </a:p>
        </p:txBody>
      </p:sp>
      <p:sp>
        <p:nvSpPr>
          <p:cNvPr id="3" name="Content Placeholder 2"/>
          <p:cNvSpPr>
            <a:spLocks noGrp="1"/>
          </p:cNvSpPr>
          <p:nvPr>
            <p:ph idx="1"/>
          </p:nvPr>
        </p:nvSpPr>
        <p:spPr/>
        <p:txBody>
          <a:bodyPr/>
          <a:lstStyle/>
          <a:p>
            <a:r>
              <a:rPr dirty="0"/>
              <a:t>Cultural Flourishing: Persian influences; support for arts and scholarship.</a:t>
            </a:r>
          </a:p>
          <a:p>
            <a:r>
              <a:rPr dirty="0"/>
              <a:t>Legal and Religious Development: Sharia law; Ulema as religious elite.</a:t>
            </a:r>
          </a:p>
          <a:p>
            <a:r>
              <a:rPr dirty="0"/>
              <a:t>Golden Age: Arabic as a unifying language; intellectual progress.</a:t>
            </a:r>
          </a:p>
          <a:p>
            <a:r>
              <a:rPr dirty="0"/>
              <a:t>Decline: Ended with Turkish and Mongol incursions; Ottoman Turks took over.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4B95E-BF1F-4DE2-8C16-CB4B29C0E342}"/>
              </a:ext>
            </a:extLst>
          </p:cNvPr>
          <p:cNvSpPr>
            <a:spLocks noGrp="1"/>
          </p:cNvSpPr>
          <p:nvPr>
            <p:ph type="title"/>
          </p:nvPr>
        </p:nvSpPr>
        <p:spPr/>
        <p:txBody>
          <a:bodyPr/>
          <a:lstStyle/>
          <a:p>
            <a:r>
              <a:rPr lang="en-US" dirty="0"/>
              <a:t>Essential Teachings of Islam</a:t>
            </a:r>
          </a:p>
        </p:txBody>
      </p:sp>
      <p:sp>
        <p:nvSpPr>
          <p:cNvPr id="3" name="Content Placeholder 2">
            <a:extLst>
              <a:ext uri="{FF2B5EF4-FFF2-40B4-BE49-F238E27FC236}">
                <a16:creationId xmlns:a16="http://schemas.microsoft.com/office/drawing/2014/main" id="{D351C59C-A708-423C-8404-CEF3DDFF3367}"/>
              </a:ext>
            </a:extLst>
          </p:cNvPr>
          <p:cNvSpPr>
            <a:spLocks noGrp="1"/>
          </p:cNvSpPr>
          <p:nvPr>
            <p:ph idx="1"/>
          </p:nvPr>
        </p:nvSpPr>
        <p:spPr/>
        <p:txBody>
          <a:bodyPr/>
          <a:lstStyle/>
          <a:p>
            <a:r>
              <a:rPr lang="en-US" dirty="0"/>
              <a:t>God is One</a:t>
            </a:r>
          </a:p>
          <a:p>
            <a:pPr lvl="1"/>
            <a:r>
              <a:rPr lang="en-US" dirty="0"/>
              <a:t>Muslims are strict monotheists -- Teaching that there is only one God forms the basis and the center of the religion</a:t>
            </a:r>
          </a:p>
          <a:p>
            <a:pPr lvl="1"/>
            <a:r>
              <a:rPr lang="en-US" dirty="0"/>
              <a:t>Arabic word for God is Allah (compare El in Hebrew)</a:t>
            </a:r>
          </a:p>
          <a:p>
            <a:pPr lvl="1"/>
            <a:r>
              <a:rPr lang="en-US" dirty="0"/>
              <a:t>God has a central role in the religion of Muslims and Islamic countries</a:t>
            </a:r>
          </a:p>
          <a:p>
            <a:pPr lvl="1"/>
            <a:r>
              <a:rPr lang="en-US" dirty="0"/>
              <a:t>Called to prayer (adhan or azan) 5 times a day by a </a:t>
            </a:r>
            <a:r>
              <a:rPr lang="en-US" dirty="0" err="1"/>
              <a:t>Muazzin</a:t>
            </a:r>
            <a:endParaRPr lang="en-US" dirty="0"/>
          </a:p>
        </p:txBody>
      </p:sp>
    </p:spTree>
    <p:extLst>
      <p:ext uri="{BB962C8B-B14F-4D97-AF65-F5344CB8AC3E}">
        <p14:creationId xmlns:p14="http://schemas.microsoft.com/office/powerpoint/2010/main" val="2334525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2C6C-D21F-4910-B448-5C2620CEF657}"/>
              </a:ext>
            </a:extLst>
          </p:cNvPr>
          <p:cNvSpPr>
            <a:spLocks noGrp="1"/>
          </p:cNvSpPr>
          <p:nvPr>
            <p:ph type="title"/>
          </p:nvPr>
        </p:nvSpPr>
        <p:spPr/>
        <p:txBody>
          <a:bodyPr/>
          <a:lstStyle/>
          <a:p>
            <a:r>
              <a:rPr lang="en-US" dirty="0"/>
              <a:t>Call to Prayer (Azan)</a:t>
            </a:r>
          </a:p>
        </p:txBody>
      </p:sp>
      <p:pic>
        <p:nvPicPr>
          <p:cNvPr id="4" name="Online Media 3" title="Most Beautiful Azan ever heard.">
            <a:hlinkClick r:id="" action="ppaction://media"/>
            <a:extLst>
              <a:ext uri="{FF2B5EF4-FFF2-40B4-BE49-F238E27FC236}">
                <a16:creationId xmlns:a16="http://schemas.microsoft.com/office/drawing/2014/main" id="{5C4D5DAA-E27A-4D0C-9C5F-13A69A7D9835}"/>
              </a:ext>
            </a:extLst>
          </p:cNvPr>
          <p:cNvPicPr>
            <a:picLocks noGrp="1" noRot="1" noChangeAspect="1"/>
          </p:cNvPicPr>
          <p:nvPr>
            <p:ph idx="1"/>
            <a:videoFile r:link="rId1"/>
          </p:nvPr>
        </p:nvPicPr>
        <p:blipFill>
          <a:blip r:embed="rId3"/>
          <a:stretch>
            <a:fillRect/>
          </a:stretch>
        </p:blipFill>
        <p:spPr>
          <a:xfrm>
            <a:off x="2840908" y="1731963"/>
            <a:ext cx="6510184" cy="4878821"/>
          </a:xfrm>
          <a:prstGeom prst="rect">
            <a:avLst/>
          </a:prstGeom>
        </p:spPr>
      </p:pic>
    </p:spTree>
    <p:extLst>
      <p:ext uri="{BB962C8B-B14F-4D97-AF65-F5344CB8AC3E}">
        <p14:creationId xmlns:p14="http://schemas.microsoft.com/office/powerpoint/2010/main" val="196610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53A2-1BB8-43D1-9BCB-EFB3054E47B1}"/>
              </a:ext>
            </a:extLst>
          </p:cNvPr>
          <p:cNvSpPr>
            <a:spLocks noGrp="1"/>
          </p:cNvSpPr>
          <p:nvPr>
            <p:ph type="title"/>
          </p:nvPr>
        </p:nvSpPr>
        <p:spPr/>
        <p:txBody>
          <a:bodyPr/>
          <a:lstStyle/>
          <a:p>
            <a:r>
              <a:rPr lang="en-US" dirty="0"/>
              <a:t>Essential Teachings of Islam</a:t>
            </a:r>
          </a:p>
        </p:txBody>
      </p:sp>
      <p:sp>
        <p:nvSpPr>
          <p:cNvPr id="3" name="Content Placeholder 2">
            <a:extLst>
              <a:ext uri="{FF2B5EF4-FFF2-40B4-BE49-F238E27FC236}">
                <a16:creationId xmlns:a16="http://schemas.microsoft.com/office/drawing/2014/main" id="{39EFEE12-0C69-4A67-9363-8CDAD073F3A9}"/>
              </a:ext>
            </a:extLst>
          </p:cNvPr>
          <p:cNvSpPr>
            <a:spLocks noGrp="1"/>
          </p:cNvSpPr>
          <p:nvPr>
            <p:ph idx="1"/>
          </p:nvPr>
        </p:nvSpPr>
        <p:spPr/>
        <p:txBody>
          <a:bodyPr/>
          <a:lstStyle/>
          <a:p>
            <a:r>
              <a:rPr lang="en-US" dirty="0"/>
              <a:t>Angels and spirits</a:t>
            </a:r>
          </a:p>
          <a:p>
            <a:pPr lvl="1"/>
            <a:r>
              <a:rPr lang="en-US" dirty="0"/>
              <a:t>Created by God to serve God and humans</a:t>
            </a:r>
            <a:endParaRPr lang="en-IN" dirty="0"/>
          </a:p>
          <a:p>
            <a:pPr lvl="1"/>
            <a:r>
              <a:rPr lang="en-US" dirty="0"/>
              <a:t>Muhammad received the Qur’an through the archangel Gabriel</a:t>
            </a:r>
          </a:p>
          <a:p>
            <a:r>
              <a:rPr lang="en-US" dirty="0"/>
              <a:t>Prophets</a:t>
            </a:r>
          </a:p>
          <a:p>
            <a:pPr lvl="1"/>
            <a:r>
              <a:rPr lang="en-US" dirty="0"/>
              <a:t>The Qur’an states that God has revealed the divine will at key points in human history through prophets</a:t>
            </a:r>
            <a:endParaRPr lang="en-IN" dirty="0"/>
          </a:p>
          <a:p>
            <a:pPr lvl="1"/>
            <a:r>
              <a:rPr lang="en-US" dirty="0"/>
              <a:t>All the prophets call for submission to the will of God and preparation for an impending judgment</a:t>
            </a:r>
            <a:endParaRPr lang="en-IN" dirty="0"/>
          </a:p>
          <a:p>
            <a:pPr lvl="1"/>
            <a:r>
              <a:rPr lang="en-US" dirty="0"/>
              <a:t>Muhammad is the culmination and conclusion of the entire line of prophets</a:t>
            </a:r>
          </a:p>
          <a:p>
            <a:endParaRPr lang="en-US" dirty="0"/>
          </a:p>
        </p:txBody>
      </p:sp>
    </p:spTree>
    <p:extLst>
      <p:ext uri="{BB962C8B-B14F-4D97-AF65-F5344CB8AC3E}">
        <p14:creationId xmlns:p14="http://schemas.microsoft.com/office/powerpoint/2010/main" val="2594117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53A2-1BB8-43D1-9BCB-EFB3054E47B1}"/>
              </a:ext>
            </a:extLst>
          </p:cNvPr>
          <p:cNvSpPr>
            <a:spLocks noGrp="1"/>
          </p:cNvSpPr>
          <p:nvPr>
            <p:ph type="title"/>
          </p:nvPr>
        </p:nvSpPr>
        <p:spPr/>
        <p:txBody>
          <a:bodyPr/>
          <a:lstStyle/>
          <a:p>
            <a:r>
              <a:rPr lang="en-US" dirty="0"/>
              <a:t>Essential Teachings of Islam</a:t>
            </a:r>
          </a:p>
        </p:txBody>
      </p:sp>
      <p:sp>
        <p:nvSpPr>
          <p:cNvPr id="3" name="Content Placeholder 2">
            <a:extLst>
              <a:ext uri="{FF2B5EF4-FFF2-40B4-BE49-F238E27FC236}">
                <a16:creationId xmlns:a16="http://schemas.microsoft.com/office/drawing/2014/main" id="{39EFEE12-0C69-4A67-9363-8CDAD073F3A9}"/>
              </a:ext>
            </a:extLst>
          </p:cNvPr>
          <p:cNvSpPr>
            <a:spLocks noGrp="1"/>
          </p:cNvSpPr>
          <p:nvPr>
            <p:ph idx="1"/>
          </p:nvPr>
        </p:nvSpPr>
        <p:spPr/>
        <p:txBody>
          <a:bodyPr/>
          <a:lstStyle/>
          <a:p>
            <a:r>
              <a:rPr lang="en-US" altLang="en-US" dirty="0"/>
              <a:t>Final Judgment</a:t>
            </a:r>
          </a:p>
          <a:p>
            <a:pPr lvl="1"/>
            <a:r>
              <a:rPr lang="en-IN" altLang="en-US" dirty="0"/>
              <a:t>God will judge people by how they submitted to God’s will</a:t>
            </a:r>
          </a:p>
          <a:p>
            <a:pPr lvl="1"/>
            <a:r>
              <a:rPr lang="en-IN" dirty="0"/>
              <a:t>Those who submit to God’s will enter heaven, and those who don’t go to hell</a:t>
            </a:r>
          </a:p>
        </p:txBody>
      </p:sp>
    </p:spTree>
    <p:extLst>
      <p:ext uri="{BB962C8B-B14F-4D97-AF65-F5344CB8AC3E}">
        <p14:creationId xmlns:p14="http://schemas.microsoft.com/office/powerpoint/2010/main" val="30407356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BF21-B0B6-485F-841C-40F6BE79F3E4}"/>
              </a:ext>
            </a:extLst>
          </p:cNvPr>
          <p:cNvSpPr>
            <a:spLocks noGrp="1"/>
          </p:cNvSpPr>
          <p:nvPr>
            <p:ph type="title"/>
          </p:nvPr>
        </p:nvSpPr>
        <p:spPr/>
        <p:txBody>
          <a:bodyPr/>
          <a:lstStyle/>
          <a:p>
            <a:r>
              <a:rPr lang="en-US" dirty="0"/>
              <a:t>Worship – The Five Pillars of Islam</a:t>
            </a:r>
          </a:p>
        </p:txBody>
      </p:sp>
      <p:sp>
        <p:nvSpPr>
          <p:cNvPr id="3" name="Content Placeholder 2">
            <a:extLst>
              <a:ext uri="{FF2B5EF4-FFF2-40B4-BE49-F238E27FC236}">
                <a16:creationId xmlns:a16="http://schemas.microsoft.com/office/drawing/2014/main" id="{AFFBC4DA-64EB-4608-BAAE-473797FA8DE5}"/>
              </a:ext>
            </a:extLst>
          </p:cNvPr>
          <p:cNvSpPr>
            <a:spLocks noGrp="1"/>
          </p:cNvSpPr>
          <p:nvPr>
            <p:ph idx="1"/>
          </p:nvPr>
        </p:nvSpPr>
        <p:spPr/>
        <p:txBody>
          <a:bodyPr/>
          <a:lstStyle/>
          <a:p>
            <a:r>
              <a:rPr lang="en-US" b="1" dirty="0"/>
              <a:t>Shahada (Creed)</a:t>
            </a:r>
            <a:r>
              <a:rPr lang="en-US" dirty="0"/>
              <a:t>: Fundamental confession of faith</a:t>
            </a:r>
            <a:endParaRPr lang="en-IN" dirty="0"/>
          </a:p>
          <a:p>
            <a:pPr lvl="1"/>
            <a:r>
              <a:rPr lang="en-US" dirty="0"/>
              <a:t>There is no god but God, and Muhammad is God’s prophet</a:t>
            </a:r>
          </a:p>
          <a:p>
            <a:r>
              <a:rPr lang="en-US" b="1" dirty="0"/>
              <a:t>Salat (Prayer)</a:t>
            </a:r>
            <a:r>
              <a:rPr lang="en-US" dirty="0"/>
              <a:t>: </a:t>
            </a:r>
          </a:p>
          <a:p>
            <a:pPr lvl="1"/>
            <a:r>
              <a:rPr lang="en-US" dirty="0"/>
              <a:t>Each Muslim says the ritual prayers, </a:t>
            </a:r>
            <a:r>
              <a:rPr lang="en-US" b="1" dirty="0"/>
              <a:t>salat</a:t>
            </a:r>
            <a:r>
              <a:rPr lang="en-US" dirty="0"/>
              <a:t>, five times a day</a:t>
            </a:r>
            <a:endParaRPr lang="en-IN" dirty="0"/>
          </a:p>
          <a:p>
            <a:pPr lvl="1"/>
            <a:r>
              <a:rPr lang="en-US" b="1" dirty="0"/>
              <a:t>Mosque</a:t>
            </a:r>
            <a:r>
              <a:rPr lang="en-US" dirty="0"/>
              <a:t>: Building for formal Muslim worship</a:t>
            </a:r>
          </a:p>
          <a:p>
            <a:pPr lvl="2"/>
            <a:r>
              <a:rPr lang="en-IN" dirty="0"/>
              <a:t>When women pray in the mosque, they are out of the men’s sight</a:t>
            </a:r>
          </a:p>
          <a:p>
            <a:pPr lvl="1"/>
            <a:r>
              <a:rPr lang="en-US" dirty="0"/>
              <a:t>Worshippers pray in straight lines facing the direction of Mecca</a:t>
            </a:r>
          </a:p>
          <a:p>
            <a:pPr lvl="1"/>
            <a:r>
              <a:rPr lang="en-IN" dirty="0"/>
              <a:t>One’s body is active in prayer, and the actions represent submission to God</a:t>
            </a:r>
          </a:p>
          <a:p>
            <a:pPr marL="450000" lvl="1" indent="0">
              <a:buNone/>
            </a:pPr>
            <a:endParaRPr lang="en-US" dirty="0"/>
          </a:p>
        </p:txBody>
      </p:sp>
    </p:spTree>
    <p:extLst>
      <p:ext uri="{BB962C8B-B14F-4D97-AF65-F5344CB8AC3E}">
        <p14:creationId xmlns:p14="http://schemas.microsoft.com/office/powerpoint/2010/main" val="687870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BF21-B0B6-485F-841C-40F6BE79F3E4}"/>
              </a:ext>
            </a:extLst>
          </p:cNvPr>
          <p:cNvSpPr>
            <a:spLocks noGrp="1"/>
          </p:cNvSpPr>
          <p:nvPr>
            <p:ph type="title"/>
          </p:nvPr>
        </p:nvSpPr>
        <p:spPr/>
        <p:txBody>
          <a:bodyPr/>
          <a:lstStyle/>
          <a:p>
            <a:r>
              <a:rPr lang="en-US" dirty="0"/>
              <a:t>Worship – The Five Pillars of Islam</a:t>
            </a:r>
          </a:p>
        </p:txBody>
      </p:sp>
      <p:sp>
        <p:nvSpPr>
          <p:cNvPr id="3" name="Content Placeholder 2">
            <a:extLst>
              <a:ext uri="{FF2B5EF4-FFF2-40B4-BE49-F238E27FC236}">
                <a16:creationId xmlns:a16="http://schemas.microsoft.com/office/drawing/2014/main" id="{AFFBC4DA-64EB-4608-BAAE-473797FA8DE5}"/>
              </a:ext>
            </a:extLst>
          </p:cNvPr>
          <p:cNvSpPr>
            <a:spLocks noGrp="1"/>
          </p:cNvSpPr>
          <p:nvPr>
            <p:ph idx="1"/>
          </p:nvPr>
        </p:nvSpPr>
        <p:spPr/>
        <p:txBody>
          <a:bodyPr/>
          <a:lstStyle/>
          <a:p>
            <a:r>
              <a:rPr lang="en-US" b="1" dirty="0"/>
              <a:t>Sawm (Fasting) – </a:t>
            </a:r>
          </a:p>
          <a:p>
            <a:pPr lvl="1"/>
            <a:r>
              <a:rPr lang="en-US" dirty="0"/>
              <a:t>Muslims are required to observe fasting during the daylight hours of Ramadan </a:t>
            </a:r>
            <a:endParaRPr lang="en-IN" dirty="0"/>
          </a:p>
          <a:p>
            <a:pPr lvl="2"/>
            <a:r>
              <a:rPr lang="en-US" dirty="0"/>
              <a:t>No food, drink, or sexual intercourse is allowed during daylight</a:t>
            </a:r>
            <a:endParaRPr lang="en-IN" dirty="0"/>
          </a:p>
          <a:p>
            <a:pPr lvl="1"/>
            <a:r>
              <a:rPr lang="en-US" dirty="0"/>
              <a:t>Celebration of Eid al-</a:t>
            </a:r>
            <a:r>
              <a:rPr lang="en-US" dirty="0" err="1"/>
              <a:t>Fitr</a:t>
            </a:r>
            <a:r>
              <a:rPr lang="en-US" dirty="0"/>
              <a:t> marks the end of Ramadan</a:t>
            </a:r>
          </a:p>
          <a:p>
            <a:r>
              <a:rPr lang="en-US" b="1" dirty="0"/>
              <a:t>Zakat (Almsgiving</a:t>
            </a:r>
            <a:r>
              <a:rPr lang="en-US" dirty="0"/>
              <a:t>)</a:t>
            </a:r>
          </a:p>
          <a:p>
            <a:pPr lvl="1"/>
            <a:r>
              <a:rPr lang="en-US" dirty="0"/>
              <a:t>The Qur’an urges all Muslims to give generously to the poor</a:t>
            </a:r>
          </a:p>
          <a:p>
            <a:pPr lvl="1"/>
            <a:r>
              <a:rPr lang="en-US" dirty="0" err="1"/>
              <a:t>Shari’a</a:t>
            </a:r>
            <a:r>
              <a:rPr lang="en-US" dirty="0"/>
              <a:t> made generosity a formal obligation with specific rules</a:t>
            </a:r>
          </a:p>
          <a:p>
            <a:r>
              <a:rPr lang="en-US" dirty="0"/>
              <a:t>Pilgrimage to Mecca (</a:t>
            </a:r>
            <a:r>
              <a:rPr lang="en-US" b="1" dirty="0"/>
              <a:t>hajj</a:t>
            </a:r>
            <a:r>
              <a:rPr lang="en-US" dirty="0"/>
              <a:t>)</a:t>
            </a:r>
          </a:p>
          <a:p>
            <a:pPr lvl="1"/>
            <a:r>
              <a:rPr lang="en-US" dirty="0"/>
              <a:t>All Muslims are required to participate in official pilgrimage to Mecca at least once in his or her lifetime</a:t>
            </a:r>
            <a:endParaRPr lang="en-IN" dirty="0"/>
          </a:p>
          <a:p>
            <a:endParaRPr lang="en-IN" dirty="0"/>
          </a:p>
        </p:txBody>
      </p:sp>
    </p:spTree>
    <p:extLst>
      <p:ext uri="{BB962C8B-B14F-4D97-AF65-F5344CB8AC3E}">
        <p14:creationId xmlns:p14="http://schemas.microsoft.com/office/powerpoint/2010/main" val="36163837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BF00-6E41-4BC9-B824-4B84780A0AD5}"/>
              </a:ext>
            </a:extLst>
          </p:cNvPr>
          <p:cNvSpPr>
            <a:spLocks noGrp="1"/>
          </p:cNvSpPr>
          <p:nvPr>
            <p:ph type="title"/>
          </p:nvPr>
        </p:nvSpPr>
        <p:spPr/>
        <p:txBody>
          <a:bodyPr/>
          <a:lstStyle/>
          <a:p>
            <a:r>
              <a:rPr lang="en-US" dirty="0"/>
              <a:t>Jihad</a:t>
            </a:r>
          </a:p>
        </p:txBody>
      </p:sp>
      <p:sp>
        <p:nvSpPr>
          <p:cNvPr id="3" name="Content Placeholder 2">
            <a:extLst>
              <a:ext uri="{FF2B5EF4-FFF2-40B4-BE49-F238E27FC236}">
                <a16:creationId xmlns:a16="http://schemas.microsoft.com/office/drawing/2014/main" id="{9E8A68DC-724A-4C5C-B801-CA23EA3499C7}"/>
              </a:ext>
            </a:extLst>
          </p:cNvPr>
          <p:cNvSpPr>
            <a:spLocks noGrp="1"/>
          </p:cNvSpPr>
          <p:nvPr>
            <p:ph idx="1"/>
          </p:nvPr>
        </p:nvSpPr>
        <p:spPr/>
        <p:txBody>
          <a:bodyPr/>
          <a:lstStyle/>
          <a:p>
            <a:r>
              <a:rPr lang="en-US" dirty="0"/>
              <a:t>Often referred to as the “6</a:t>
            </a:r>
            <a:r>
              <a:rPr lang="en-US" baseline="30000" dirty="0"/>
              <a:t>th</a:t>
            </a:r>
            <a:r>
              <a:rPr lang="en-US" dirty="0"/>
              <a:t> pillar” though does not have official status as such</a:t>
            </a:r>
          </a:p>
          <a:p>
            <a:r>
              <a:rPr lang="en-US" dirty="0"/>
              <a:t>Jihad comes out quite clearly and often in the Quran</a:t>
            </a:r>
          </a:p>
          <a:p>
            <a:r>
              <a:rPr lang="en-IN" altLang="ja-JP" dirty="0"/>
              <a:t>Struggle – as individuals and community to realize God’s will, to lead virtuous lives, and to extend Islam through preaching and education</a:t>
            </a:r>
          </a:p>
          <a:p>
            <a:r>
              <a:rPr lang="en-IN" altLang="ja-JP" dirty="0"/>
              <a:t>Struggle – military struggle to defend or extend Islam through force of arms</a:t>
            </a:r>
          </a:p>
          <a:p>
            <a:pPr lvl="1"/>
            <a:r>
              <a:rPr lang="en-US" altLang="en-US" dirty="0"/>
              <a:t>Quran repeatedly commands Muslims to take up arms and fight when necessary on behalf of the community</a:t>
            </a:r>
          </a:p>
          <a:p>
            <a:endParaRPr lang="en-US" dirty="0"/>
          </a:p>
        </p:txBody>
      </p:sp>
    </p:spTree>
    <p:extLst>
      <p:ext uri="{BB962C8B-B14F-4D97-AF65-F5344CB8AC3E}">
        <p14:creationId xmlns:p14="http://schemas.microsoft.com/office/powerpoint/2010/main" val="2893122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512A-5ACC-4CD5-A8AB-F784DD1A971B}"/>
              </a:ext>
            </a:extLst>
          </p:cNvPr>
          <p:cNvSpPr>
            <a:spLocks noGrp="1"/>
          </p:cNvSpPr>
          <p:nvPr>
            <p:ph type="title"/>
          </p:nvPr>
        </p:nvSpPr>
        <p:spPr/>
        <p:txBody>
          <a:bodyPr/>
          <a:lstStyle/>
          <a:p>
            <a:r>
              <a:rPr lang="en-US" dirty="0"/>
              <a:t>Islamic Ethics and Religious Practices </a:t>
            </a:r>
          </a:p>
        </p:txBody>
      </p:sp>
      <p:sp>
        <p:nvSpPr>
          <p:cNvPr id="3" name="Content Placeholder 2">
            <a:extLst>
              <a:ext uri="{FF2B5EF4-FFF2-40B4-BE49-F238E27FC236}">
                <a16:creationId xmlns:a16="http://schemas.microsoft.com/office/drawing/2014/main" id="{6EFEAB93-C923-4A53-AB2A-46156BBA7EA3}"/>
              </a:ext>
            </a:extLst>
          </p:cNvPr>
          <p:cNvSpPr>
            <a:spLocks noGrp="1"/>
          </p:cNvSpPr>
          <p:nvPr>
            <p:ph idx="1"/>
          </p:nvPr>
        </p:nvSpPr>
        <p:spPr/>
        <p:txBody>
          <a:bodyPr/>
          <a:lstStyle/>
          <a:p>
            <a:r>
              <a:rPr lang="en-US" dirty="0"/>
              <a:t>Marriage and Sexuality</a:t>
            </a:r>
          </a:p>
          <a:p>
            <a:pPr lvl="1"/>
            <a:r>
              <a:rPr lang="en-US" dirty="0"/>
              <a:t>Muhammad taught that celibacy is unnatural – no tradition of celibate monasticism or clergy</a:t>
            </a:r>
          </a:p>
          <a:p>
            <a:pPr lvl="1"/>
            <a:r>
              <a:rPr lang="en-US" dirty="0"/>
              <a:t>Sex is limited within bonds of matrimony or with one’s slaves (24:33)</a:t>
            </a:r>
          </a:p>
          <a:p>
            <a:pPr lvl="1"/>
            <a:r>
              <a:rPr lang="en-IN" dirty="0"/>
              <a:t>A man may have up to four wives at one time as long as he provides for them equally and with separate living quarters</a:t>
            </a:r>
            <a:endParaRPr lang="en-US" dirty="0"/>
          </a:p>
          <a:p>
            <a:r>
              <a:rPr lang="en-US" dirty="0"/>
              <a:t>Quran admonishes modesty for both men and women (24:30-31)</a:t>
            </a:r>
          </a:p>
          <a:p>
            <a:pPr lvl="1"/>
            <a:r>
              <a:rPr lang="en-US" dirty="0"/>
              <a:t>Disagreement among Muslims how this is to be interpreted; not all Muslim women wear </a:t>
            </a:r>
            <a:r>
              <a:rPr lang="en-US" b="1" dirty="0"/>
              <a:t>hijab</a:t>
            </a:r>
          </a:p>
        </p:txBody>
      </p:sp>
    </p:spTree>
    <p:extLst>
      <p:ext uri="{BB962C8B-B14F-4D97-AF65-F5344CB8AC3E}">
        <p14:creationId xmlns:p14="http://schemas.microsoft.com/office/powerpoint/2010/main" val="50196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512A-5ACC-4CD5-A8AB-F784DD1A971B}"/>
              </a:ext>
            </a:extLst>
          </p:cNvPr>
          <p:cNvSpPr>
            <a:spLocks noGrp="1"/>
          </p:cNvSpPr>
          <p:nvPr>
            <p:ph type="title"/>
          </p:nvPr>
        </p:nvSpPr>
        <p:spPr/>
        <p:txBody>
          <a:bodyPr/>
          <a:lstStyle/>
          <a:p>
            <a:r>
              <a:rPr lang="en-US" dirty="0"/>
              <a:t>Islamic Ethics and Religious Practices </a:t>
            </a:r>
          </a:p>
        </p:txBody>
      </p:sp>
      <p:sp>
        <p:nvSpPr>
          <p:cNvPr id="3" name="Content Placeholder 2">
            <a:extLst>
              <a:ext uri="{FF2B5EF4-FFF2-40B4-BE49-F238E27FC236}">
                <a16:creationId xmlns:a16="http://schemas.microsoft.com/office/drawing/2014/main" id="{6EFEAB93-C923-4A53-AB2A-46156BBA7EA3}"/>
              </a:ext>
            </a:extLst>
          </p:cNvPr>
          <p:cNvSpPr>
            <a:spLocks noGrp="1"/>
          </p:cNvSpPr>
          <p:nvPr>
            <p:ph idx="1"/>
          </p:nvPr>
        </p:nvSpPr>
        <p:spPr/>
        <p:txBody>
          <a:bodyPr/>
          <a:lstStyle/>
          <a:p>
            <a:r>
              <a:rPr lang="en-US" b="1" dirty="0"/>
              <a:t>Dietary Restrictions</a:t>
            </a:r>
          </a:p>
          <a:p>
            <a:r>
              <a:rPr lang="en-IN" dirty="0"/>
              <a:t>Only halal foods may be eaten by Muslims</a:t>
            </a:r>
            <a:endParaRPr lang="en-US" dirty="0"/>
          </a:p>
          <a:p>
            <a:pPr lvl="1"/>
            <a:r>
              <a:rPr lang="en-IN" b="1" dirty="0"/>
              <a:t>Halal</a:t>
            </a:r>
            <a:r>
              <a:rPr lang="en-IN" dirty="0"/>
              <a:t>: Permitted foods and actions</a:t>
            </a:r>
          </a:p>
          <a:p>
            <a:r>
              <a:rPr lang="en-US" dirty="0"/>
              <a:t>Foods that are haram may not be eaten </a:t>
            </a:r>
          </a:p>
          <a:p>
            <a:pPr lvl="1"/>
            <a:r>
              <a:rPr lang="en-US" b="1" dirty="0"/>
              <a:t>Haram</a:t>
            </a:r>
            <a:r>
              <a:rPr lang="en-US" dirty="0"/>
              <a:t>: Forbidden foods and actions, such as pork</a:t>
            </a:r>
          </a:p>
          <a:p>
            <a:r>
              <a:rPr lang="en-US" dirty="0"/>
              <a:t>Drinking of wine is prohibited by the Qur’an</a:t>
            </a:r>
          </a:p>
          <a:p>
            <a:endParaRPr lang="en-US" b="1" dirty="0"/>
          </a:p>
        </p:txBody>
      </p:sp>
    </p:spTree>
    <p:extLst>
      <p:ext uri="{BB962C8B-B14F-4D97-AF65-F5344CB8AC3E}">
        <p14:creationId xmlns:p14="http://schemas.microsoft.com/office/powerpoint/2010/main" val="3825661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1512A-5ACC-4CD5-A8AB-F784DD1A971B}"/>
              </a:ext>
            </a:extLst>
          </p:cNvPr>
          <p:cNvSpPr>
            <a:spLocks noGrp="1"/>
          </p:cNvSpPr>
          <p:nvPr>
            <p:ph type="title"/>
          </p:nvPr>
        </p:nvSpPr>
        <p:spPr/>
        <p:txBody>
          <a:bodyPr/>
          <a:lstStyle/>
          <a:p>
            <a:r>
              <a:rPr lang="en-US" dirty="0"/>
              <a:t>Islamic Ethics and Religious Practices </a:t>
            </a:r>
          </a:p>
        </p:txBody>
      </p:sp>
      <p:sp>
        <p:nvSpPr>
          <p:cNvPr id="3" name="Content Placeholder 2">
            <a:extLst>
              <a:ext uri="{FF2B5EF4-FFF2-40B4-BE49-F238E27FC236}">
                <a16:creationId xmlns:a16="http://schemas.microsoft.com/office/drawing/2014/main" id="{6EFEAB93-C923-4A53-AB2A-46156BBA7EA3}"/>
              </a:ext>
            </a:extLst>
          </p:cNvPr>
          <p:cNvSpPr>
            <a:spLocks noGrp="1"/>
          </p:cNvSpPr>
          <p:nvPr>
            <p:ph idx="1"/>
          </p:nvPr>
        </p:nvSpPr>
        <p:spPr/>
        <p:txBody>
          <a:bodyPr/>
          <a:lstStyle/>
          <a:p>
            <a:r>
              <a:rPr lang="en-US" b="1" dirty="0"/>
              <a:t>Gambling and Usury Restricted</a:t>
            </a:r>
          </a:p>
          <a:p>
            <a:r>
              <a:rPr lang="en-US" b="1" dirty="0"/>
              <a:t>Circumcision – </a:t>
            </a:r>
            <a:r>
              <a:rPr lang="en-US" dirty="0"/>
              <a:t>not mentioned in the Quran, but Muhammad stated that circumcision was a “law for men”</a:t>
            </a:r>
          </a:p>
          <a:p>
            <a:pPr lvl="1"/>
            <a:r>
              <a:rPr lang="en-US" dirty="0"/>
              <a:t>Preferred age is often seven, though varies depending on country</a:t>
            </a:r>
          </a:p>
          <a:p>
            <a:r>
              <a:rPr lang="en-US" dirty="0"/>
              <a:t>Some Muslim countries, mostly in Africa, practice female “circumcision” – known as female genital mutilation (FGM)</a:t>
            </a:r>
          </a:p>
        </p:txBody>
      </p:sp>
    </p:spTree>
    <p:extLst>
      <p:ext uri="{BB962C8B-B14F-4D97-AF65-F5344CB8AC3E}">
        <p14:creationId xmlns:p14="http://schemas.microsoft.com/office/powerpoint/2010/main" val="455034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B87F8-9B16-4DC6-BFB1-F9C9F984684A}"/>
              </a:ext>
            </a:extLst>
          </p:cNvPr>
          <p:cNvSpPr>
            <a:spLocks noGrp="1"/>
          </p:cNvSpPr>
          <p:nvPr>
            <p:ph type="title"/>
          </p:nvPr>
        </p:nvSpPr>
        <p:spPr/>
        <p:txBody>
          <a:bodyPr/>
          <a:lstStyle/>
          <a:p>
            <a:r>
              <a:rPr lang="en-US" dirty="0"/>
              <a:t>Female Genital Mutilation </a:t>
            </a:r>
          </a:p>
        </p:txBody>
      </p:sp>
      <p:pic>
        <p:nvPicPr>
          <p:cNvPr id="4" name="Online Media 3">
            <a:hlinkClick r:id="" action="ppaction://media"/>
            <a:extLst>
              <a:ext uri="{FF2B5EF4-FFF2-40B4-BE49-F238E27FC236}">
                <a16:creationId xmlns:a16="http://schemas.microsoft.com/office/drawing/2014/main" id="{1EFCFE60-EBF4-456C-8079-97DF86DA5AD8}"/>
              </a:ext>
            </a:extLst>
          </p:cNvPr>
          <p:cNvPicPr>
            <a:picLocks noGrp="1" noRot="1" noChangeAspect="1"/>
          </p:cNvPicPr>
          <p:nvPr>
            <p:ph idx="1"/>
            <a:videoFile r:link="rId1"/>
          </p:nvPr>
        </p:nvPicPr>
        <p:blipFill>
          <a:blip r:embed="rId4"/>
          <a:stretch>
            <a:fillRect/>
          </a:stretch>
        </p:blipFill>
        <p:spPr>
          <a:xfrm>
            <a:off x="2028992" y="1673016"/>
            <a:ext cx="8134016" cy="4575384"/>
          </a:xfrm>
          <a:prstGeom prst="rect">
            <a:avLst/>
          </a:prstGeom>
        </p:spPr>
      </p:pic>
    </p:spTree>
    <p:extLst>
      <p:ext uri="{BB962C8B-B14F-4D97-AF65-F5344CB8AC3E}">
        <p14:creationId xmlns:p14="http://schemas.microsoft.com/office/powerpoint/2010/main" val="24911507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386D0-2FCB-4A81-82FE-53BDB7BB2AF5}"/>
              </a:ext>
            </a:extLst>
          </p:cNvPr>
          <p:cNvSpPr>
            <a:spLocks noGrp="1"/>
          </p:cNvSpPr>
          <p:nvPr>
            <p:ph type="title"/>
          </p:nvPr>
        </p:nvSpPr>
        <p:spPr/>
        <p:txBody>
          <a:bodyPr/>
          <a:lstStyle/>
          <a:p>
            <a:r>
              <a:rPr lang="en-US" dirty="0"/>
              <a:t>FGM &amp; Islam</a:t>
            </a:r>
          </a:p>
        </p:txBody>
      </p:sp>
      <p:sp>
        <p:nvSpPr>
          <p:cNvPr id="3" name="Content Placeholder 2">
            <a:extLst>
              <a:ext uri="{FF2B5EF4-FFF2-40B4-BE49-F238E27FC236}">
                <a16:creationId xmlns:a16="http://schemas.microsoft.com/office/drawing/2014/main" id="{39C34794-51F7-4415-91B8-B85CFF65B60C}"/>
              </a:ext>
            </a:extLst>
          </p:cNvPr>
          <p:cNvSpPr>
            <a:spLocks noGrp="1"/>
          </p:cNvSpPr>
          <p:nvPr>
            <p:ph idx="1"/>
          </p:nvPr>
        </p:nvSpPr>
        <p:spPr/>
        <p:txBody>
          <a:bodyPr/>
          <a:lstStyle/>
          <a:p>
            <a:r>
              <a:rPr lang="en-US" dirty="0"/>
              <a:t>Primarily cultural; not found in the Qur’an</a:t>
            </a:r>
          </a:p>
          <a:p>
            <a:pPr lvl="1"/>
            <a:r>
              <a:rPr lang="en-US" dirty="0"/>
              <a:t>Linked to Islam due to its focus on female chastity and seclusion</a:t>
            </a:r>
          </a:p>
          <a:p>
            <a:r>
              <a:rPr lang="en-US" dirty="0"/>
              <a:t>Praised in the Hadith as being noble but not required</a:t>
            </a:r>
          </a:p>
          <a:p>
            <a:r>
              <a:rPr lang="en-US" dirty="0"/>
              <a:t>Considered obligatory by some sects of Islam (</a:t>
            </a:r>
            <a:r>
              <a:rPr lang="en-US" dirty="0" err="1"/>
              <a:t>shafi’i</a:t>
            </a:r>
            <a:r>
              <a:rPr lang="en-US" dirty="0"/>
              <a:t>) </a:t>
            </a:r>
          </a:p>
          <a:p>
            <a:r>
              <a:rPr lang="en-US" dirty="0"/>
              <a:t>Widespread belief among Muslims that FGM is religious obligation</a:t>
            </a:r>
          </a:p>
        </p:txBody>
      </p:sp>
    </p:spTree>
    <p:extLst>
      <p:ext uri="{BB962C8B-B14F-4D97-AF65-F5344CB8AC3E}">
        <p14:creationId xmlns:p14="http://schemas.microsoft.com/office/powerpoint/2010/main" val="9571409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17374-0B80-44D4-A9B2-79979B00F13B}"/>
              </a:ext>
            </a:extLst>
          </p:cNvPr>
          <p:cNvSpPr>
            <a:spLocks noGrp="1"/>
          </p:cNvSpPr>
          <p:nvPr>
            <p:ph type="title"/>
          </p:nvPr>
        </p:nvSpPr>
        <p:spPr/>
        <p:txBody>
          <a:bodyPr/>
          <a:lstStyle/>
          <a:p>
            <a:r>
              <a:rPr lang="en-US" dirty="0"/>
              <a:t>Influential Muslim Groups</a:t>
            </a:r>
          </a:p>
        </p:txBody>
      </p:sp>
      <p:sp>
        <p:nvSpPr>
          <p:cNvPr id="3" name="Content Placeholder 2">
            <a:extLst>
              <a:ext uri="{FF2B5EF4-FFF2-40B4-BE49-F238E27FC236}">
                <a16:creationId xmlns:a16="http://schemas.microsoft.com/office/drawing/2014/main" id="{F76E6E68-52B5-45C1-9CBD-6D1CC98FB3FF}"/>
              </a:ext>
            </a:extLst>
          </p:cNvPr>
          <p:cNvSpPr>
            <a:spLocks noGrp="1"/>
          </p:cNvSpPr>
          <p:nvPr>
            <p:ph idx="1"/>
          </p:nvPr>
        </p:nvSpPr>
        <p:spPr/>
        <p:txBody>
          <a:bodyPr>
            <a:noAutofit/>
          </a:bodyPr>
          <a:lstStyle/>
          <a:p>
            <a:r>
              <a:rPr lang="en-US" sz="2800" b="1" dirty="0"/>
              <a:t>Sufis</a:t>
            </a:r>
          </a:p>
          <a:p>
            <a:pPr lvl="1"/>
            <a:r>
              <a:rPr lang="en-IN" sz="2800" dirty="0"/>
              <a:t>Followers of Islamic mystical movement Sufism </a:t>
            </a:r>
          </a:p>
        </p:txBody>
      </p:sp>
    </p:spTree>
    <p:extLst>
      <p:ext uri="{BB962C8B-B14F-4D97-AF65-F5344CB8AC3E}">
        <p14:creationId xmlns:p14="http://schemas.microsoft.com/office/powerpoint/2010/main" val="39555754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17374-0B80-44D4-A9B2-79979B00F13B}"/>
              </a:ext>
            </a:extLst>
          </p:cNvPr>
          <p:cNvSpPr>
            <a:spLocks noGrp="1"/>
          </p:cNvSpPr>
          <p:nvPr>
            <p:ph type="title"/>
          </p:nvPr>
        </p:nvSpPr>
        <p:spPr/>
        <p:txBody>
          <a:bodyPr/>
          <a:lstStyle/>
          <a:p>
            <a:r>
              <a:rPr lang="en-US" dirty="0"/>
              <a:t>Influential Muslim Groups</a:t>
            </a:r>
          </a:p>
        </p:txBody>
      </p:sp>
      <p:sp>
        <p:nvSpPr>
          <p:cNvPr id="3" name="Content Placeholder 2">
            <a:extLst>
              <a:ext uri="{FF2B5EF4-FFF2-40B4-BE49-F238E27FC236}">
                <a16:creationId xmlns:a16="http://schemas.microsoft.com/office/drawing/2014/main" id="{F76E6E68-52B5-45C1-9CBD-6D1CC98FB3FF}"/>
              </a:ext>
            </a:extLst>
          </p:cNvPr>
          <p:cNvSpPr>
            <a:spLocks noGrp="1"/>
          </p:cNvSpPr>
          <p:nvPr>
            <p:ph idx="1"/>
          </p:nvPr>
        </p:nvSpPr>
        <p:spPr/>
        <p:txBody>
          <a:bodyPr>
            <a:noAutofit/>
          </a:bodyPr>
          <a:lstStyle/>
          <a:p>
            <a:r>
              <a:rPr lang="en-US" sz="2800" b="1" dirty="0"/>
              <a:t>Sufis</a:t>
            </a:r>
          </a:p>
          <a:p>
            <a:pPr lvl="1"/>
            <a:r>
              <a:rPr lang="en-IN" sz="2800" dirty="0"/>
              <a:t>Followers of Islamic mystical movement Sufism </a:t>
            </a:r>
          </a:p>
          <a:p>
            <a:pPr lvl="1"/>
            <a:r>
              <a:rPr lang="en-IN" sz="2800" dirty="0">
                <a:hlinkClick r:id="rId2"/>
              </a:rPr>
              <a:t>Whirling Dervish</a:t>
            </a:r>
            <a:endParaRPr lang="en-IN" sz="2800" dirty="0"/>
          </a:p>
        </p:txBody>
      </p:sp>
    </p:spTree>
    <p:extLst>
      <p:ext uri="{BB962C8B-B14F-4D97-AF65-F5344CB8AC3E}">
        <p14:creationId xmlns:p14="http://schemas.microsoft.com/office/powerpoint/2010/main" val="29605120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17374-0B80-44D4-A9B2-79979B00F13B}"/>
              </a:ext>
            </a:extLst>
          </p:cNvPr>
          <p:cNvSpPr>
            <a:spLocks noGrp="1"/>
          </p:cNvSpPr>
          <p:nvPr>
            <p:ph type="title"/>
          </p:nvPr>
        </p:nvSpPr>
        <p:spPr/>
        <p:txBody>
          <a:bodyPr/>
          <a:lstStyle/>
          <a:p>
            <a:r>
              <a:rPr lang="en-US" dirty="0"/>
              <a:t>Influential Muslim Groups</a:t>
            </a:r>
          </a:p>
        </p:txBody>
      </p:sp>
      <p:sp>
        <p:nvSpPr>
          <p:cNvPr id="3" name="Content Placeholder 2">
            <a:extLst>
              <a:ext uri="{FF2B5EF4-FFF2-40B4-BE49-F238E27FC236}">
                <a16:creationId xmlns:a16="http://schemas.microsoft.com/office/drawing/2014/main" id="{F76E6E68-52B5-45C1-9CBD-6D1CC98FB3FF}"/>
              </a:ext>
            </a:extLst>
          </p:cNvPr>
          <p:cNvSpPr>
            <a:spLocks noGrp="1"/>
          </p:cNvSpPr>
          <p:nvPr>
            <p:ph idx="1"/>
          </p:nvPr>
        </p:nvSpPr>
        <p:spPr/>
        <p:txBody>
          <a:bodyPr>
            <a:noAutofit/>
          </a:bodyPr>
          <a:lstStyle/>
          <a:p>
            <a:r>
              <a:rPr lang="en-US" sz="2800" b="1" dirty="0"/>
              <a:t>Sufis</a:t>
            </a:r>
          </a:p>
          <a:p>
            <a:pPr lvl="1"/>
            <a:r>
              <a:rPr lang="en-IN" sz="2800" dirty="0"/>
              <a:t>Followers of Islamic mystical movement Sufism </a:t>
            </a:r>
          </a:p>
          <a:p>
            <a:pPr lvl="1"/>
            <a:r>
              <a:rPr lang="en-IN" sz="2800" dirty="0">
                <a:hlinkClick r:id="rId2"/>
              </a:rPr>
              <a:t>Whirling Dervish</a:t>
            </a:r>
            <a:endParaRPr lang="en-IN" sz="2800" dirty="0"/>
          </a:p>
          <a:p>
            <a:r>
              <a:rPr lang="en-US" sz="2800" b="1" dirty="0"/>
              <a:t>Wahhabi</a:t>
            </a:r>
          </a:p>
          <a:p>
            <a:pPr lvl="1"/>
            <a:r>
              <a:rPr lang="en-IN" sz="2800" dirty="0"/>
              <a:t>Modern Sunni radical movement begun by Muhammad al-</a:t>
            </a:r>
            <a:r>
              <a:rPr lang="en-IN" sz="2800" dirty="0" err="1"/>
              <a:t>Wahhab</a:t>
            </a:r>
            <a:r>
              <a:rPr lang="en-IN" sz="2800" dirty="0"/>
              <a:t> </a:t>
            </a:r>
          </a:p>
          <a:p>
            <a:r>
              <a:rPr lang="en-US" sz="2800" b="1" dirty="0"/>
              <a:t>Muslim Brotherhood</a:t>
            </a:r>
          </a:p>
          <a:p>
            <a:pPr lvl="1"/>
            <a:r>
              <a:rPr lang="en-IN" sz="2800" dirty="0"/>
              <a:t>Conservative religious and political movement founded in 1929</a:t>
            </a:r>
          </a:p>
        </p:txBody>
      </p:sp>
    </p:spTree>
    <p:extLst>
      <p:ext uri="{BB962C8B-B14F-4D97-AF65-F5344CB8AC3E}">
        <p14:creationId xmlns:p14="http://schemas.microsoft.com/office/powerpoint/2010/main" val="24971553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17374-0B80-44D4-A9B2-79979B00F13B}"/>
              </a:ext>
            </a:extLst>
          </p:cNvPr>
          <p:cNvSpPr>
            <a:spLocks noGrp="1"/>
          </p:cNvSpPr>
          <p:nvPr>
            <p:ph type="title"/>
          </p:nvPr>
        </p:nvSpPr>
        <p:spPr/>
        <p:txBody>
          <a:bodyPr/>
          <a:lstStyle/>
          <a:p>
            <a:r>
              <a:rPr lang="en-US" dirty="0"/>
              <a:t>Influential Muslim Groups</a:t>
            </a:r>
          </a:p>
        </p:txBody>
      </p:sp>
      <p:sp>
        <p:nvSpPr>
          <p:cNvPr id="3" name="Content Placeholder 2">
            <a:extLst>
              <a:ext uri="{FF2B5EF4-FFF2-40B4-BE49-F238E27FC236}">
                <a16:creationId xmlns:a16="http://schemas.microsoft.com/office/drawing/2014/main" id="{F76E6E68-52B5-45C1-9CBD-6D1CC98FB3FF}"/>
              </a:ext>
            </a:extLst>
          </p:cNvPr>
          <p:cNvSpPr>
            <a:spLocks noGrp="1"/>
          </p:cNvSpPr>
          <p:nvPr>
            <p:ph idx="1"/>
          </p:nvPr>
        </p:nvSpPr>
        <p:spPr>
          <a:xfrm>
            <a:off x="913795" y="1732449"/>
            <a:ext cx="10353762" cy="4602250"/>
          </a:xfrm>
        </p:spPr>
        <p:txBody>
          <a:bodyPr>
            <a:noAutofit/>
          </a:bodyPr>
          <a:lstStyle/>
          <a:p>
            <a:r>
              <a:rPr lang="en-US" sz="2800" b="1" dirty="0"/>
              <a:t>Taliban</a:t>
            </a:r>
          </a:p>
          <a:p>
            <a:pPr lvl="1"/>
            <a:r>
              <a:rPr lang="en-IN" sz="2400" dirty="0"/>
              <a:t>Students of the Qur’an, a radical Sunni group in Afghanistan</a:t>
            </a:r>
          </a:p>
          <a:p>
            <a:pPr lvl="1"/>
            <a:r>
              <a:rPr lang="en-IN" sz="2400" dirty="0"/>
              <a:t>Considers Muslims who don’t adhere to their strict attitudes and standards of </a:t>
            </a:r>
            <a:r>
              <a:rPr lang="en-IN" sz="2400" dirty="0" err="1"/>
              <a:t>behavior</a:t>
            </a:r>
            <a:r>
              <a:rPr lang="en-IN" sz="2400" dirty="0"/>
              <a:t> to be false Muslims and enemies of Islam</a:t>
            </a:r>
            <a:endParaRPr lang="en-US" sz="2400" dirty="0"/>
          </a:p>
          <a:p>
            <a:r>
              <a:rPr lang="en-US" sz="2800" dirty="0"/>
              <a:t>The Islamic State (IS)</a:t>
            </a:r>
          </a:p>
          <a:p>
            <a:pPr lvl="1"/>
            <a:r>
              <a:rPr lang="en-IN" sz="2400" dirty="0"/>
              <a:t>Formerly known as The Islamic State of Iraq and the Levant (ISIL) and The Islamic State of Iraq and Syria (ISIS)</a:t>
            </a:r>
          </a:p>
          <a:p>
            <a:pPr lvl="1"/>
            <a:r>
              <a:rPr lang="en-IN" sz="2400" dirty="0"/>
              <a:t>Tries to conquer and hold territory</a:t>
            </a:r>
          </a:p>
          <a:p>
            <a:pPr lvl="1"/>
            <a:r>
              <a:rPr lang="en-IN" sz="2400" dirty="0"/>
              <a:t>Ferocious in applying its interpretation of Muslim law to its territories</a:t>
            </a:r>
            <a:endParaRPr lang="en-US" sz="2400" dirty="0"/>
          </a:p>
          <a:p>
            <a:pPr lvl="1"/>
            <a:endParaRPr lang="en-IN" sz="2600" dirty="0"/>
          </a:p>
        </p:txBody>
      </p:sp>
    </p:spTree>
    <p:extLst>
      <p:ext uri="{BB962C8B-B14F-4D97-AF65-F5344CB8AC3E}">
        <p14:creationId xmlns:p14="http://schemas.microsoft.com/office/powerpoint/2010/main" val="25118082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17374-0B80-44D4-A9B2-79979B00F13B}"/>
              </a:ext>
            </a:extLst>
          </p:cNvPr>
          <p:cNvSpPr>
            <a:spLocks noGrp="1"/>
          </p:cNvSpPr>
          <p:nvPr>
            <p:ph type="title"/>
          </p:nvPr>
        </p:nvSpPr>
        <p:spPr/>
        <p:txBody>
          <a:bodyPr/>
          <a:lstStyle/>
          <a:p>
            <a:r>
              <a:rPr lang="en-US" dirty="0"/>
              <a:t>Influential Muslim Groups</a:t>
            </a:r>
          </a:p>
        </p:txBody>
      </p:sp>
      <p:sp>
        <p:nvSpPr>
          <p:cNvPr id="3" name="Content Placeholder 2">
            <a:extLst>
              <a:ext uri="{FF2B5EF4-FFF2-40B4-BE49-F238E27FC236}">
                <a16:creationId xmlns:a16="http://schemas.microsoft.com/office/drawing/2014/main" id="{F76E6E68-52B5-45C1-9CBD-6D1CC98FB3FF}"/>
              </a:ext>
            </a:extLst>
          </p:cNvPr>
          <p:cNvSpPr>
            <a:spLocks noGrp="1"/>
          </p:cNvSpPr>
          <p:nvPr>
            <p:ph idx="1"/>
          </p:nvPr>
        </p:nvSpPr>
        <p:spPr>
          <a:xfrm>
            <a:off x="913795" y="1732449"/>
            <a:ext cx="10353762" cy="4602250"/>
          </a:xfrm>
        </p:spPr>
        <p:txBody>
          <a:bodyPr>
            <a:noAutofit/>
          </a:bodyPr>
          <a:lstStyle/>
          <a:p>
            <a:r>
              <a:rPr lang="en-US" altLang="en-US" sz="2800" b="1" dirty="0"/>
              <a:t>Al-Qaeda</a:t>
            </a:r>
            <a:r>
              <a:rPr lang="en-US" altLang="en-US" sz="2800" dirty="0"/>
              <a:t>, founded by Osama bin Laden, launched </a:t>
            </a:r>
            <a:r>
              <a:rPr lang="en-US" altLang="ja-JP" sz="2800" dirty="0"/>
              <a:t>coordinated attacks on the United States</a:t>
            </a:r>
          </a:p>
          <a:p>
            <a:pPr lvl="1"/>
            <a:r>
              <a:rPr lang="en-US" altLang="en-US" sz="2800" dirty="0"/>
              <a:t>Bin Laden expressed strong opposition to Westernization of Muslim lands and the presence of the Jewish state of Israel</a:t>
            </a:r>
            <a:endParaRPr lang="en-IN" sz="2800" dirty="0"/>
          </a:p>
        </p:txBody>
      </p:sp>
    </p:spTree>
    <p:extLst>
      <p:ext uri="{BB962C8B-B14F-4D97-AF65-F5344CB8AC3E}">
        <p14:creationId xmlns:p14="http://schemas.microsoft.com/office/powerpoint/2010/main" val="10494665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TotalTime>1867</TotalTime>
  <Words>5952</Words>
  <Application>Microsoft Office PowerPoint</Application>
  <PresentationFormat>Widescreen</PresentationFormat>
  <Paragraphs>517</Paragraphs>
  <Slides>50</Slides>
  <Notes>15</Notes>
  <HiddenSlides>12</HiddenSlides>
  <MMClips>2</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Slate</vt:lpstr>
      <vt:lpstr>Islam</vt:lpstr>
      <vt:lpstr>Islam</vt:lpstr>
      <vt:lpstr>Faith and Good Works</vt:lpstr>
      <vt:lpstr>Muhammad Ibn Abdullah, the Founder of Islam</vt:lpstr>
      <vt:lpstr>Muhammad Ibn Abdullah, the Founder of Islam</vt:lpstr>
      <vt:lpstr>The Qur’an</vt:lpstr>
      <vt:lpstr>Themes of early prophetic message </vt:lpstr>
      <vt:lpstr>Pre-Islamic Arabian Religion</vt:lpstr>
      <vt:lpstr>Spread of Islam</vt:lpstr>
      <vt:lpstr>Night Journey (621 a.d.) </vt:lpstr>
      <vt:lpstr>The Hijrah (622 a.d.)</vt:lpstr>
      <vt:lpstr>Life of Muhammad</vt:lpstr>
      <vt:lpstr>Muhammad Ibn Abdullah, the Founder of Islam</vt:lpstr>
      <vt:lpstr>Muhammad Ibn Abdullah, the Founder of Islam</vt:lpstr>
      <vt:lpstr>Islam Immediately Following the Death of Muhammad (632-661)</vt:lpstr>
      <vt:lpstr>Rightly Guided Caliphs</vt:lpstr>
      <vt:lpstr>Rightly Guided Caliphs</vt:lpstr>
      <vt:lpstr>Rightly Guided Caliphs</vt:lpstr>
      <vt:lpstr>Rightly Guided Caliphs</vt:lpstr>
      <vt:lpstr>Rightly Guided Caliphs</vt:lpstr>
      <vt:lpstr>Umayyad Dynasty</vt:lpstr>
      <vt:lpstr>PowerPoint Presentation</vt:lpstr>
      <vt:lpstr>Umayyad Dynasty</vt:lpstr>
      <vt:lpstr>Umayyad Dynasty</vt:lpstr>
      <vt:lpstr>Abbasid Caliphate</vt:lpstr>
      <vt:lpstr>Abbasid Caliphate</vt:lpstr>
      <vt:lpstr>History of Islam</vt:lpstr>
      <vt:lpstr>After Muhammad's Death (632-661)</vt:lpstr>
      <vt:lpstr>Rightly Guided Caliphs (632-661)</vt:lpstr>
      <vt:lpstr>Rightly Guided Caliphs (632-661)</vt:lpstr>
      <vt:lpstr>The Rise of Muawiyah and the Founding of the Umayyad Dynasty</vt:lpstr>
      <vt:lpstr>Umayyad Dynasty (661-750)</vt:lpstr>
      <vt:lpstr>Abbasid Caliphate (750-1258)</vt:lpstr>
      <vt:lpstr>Essential Teachings of Islam</vt:lpstr>
      <vt:lpstr>Call to Prayer (Azan)</vt:lpstr>
      <vt:lpstr>Essential Teachings of Islam</vt:lpstr>
      <vt:lpstr>Essential Teachings of Islam</vt:lpstr>
      <vt:lpstr>Worship – The Five Pillars of Islam</vt:lpstr>
      <vt:lpstr>Worship – The Five Pillars of Islam</vt:lpstr>
      <vt:lpstr>Jihad</vt:lpstr>
      <vt:lpstr>Islamic Ethics and Religious Practices </vt:lpstr>
      <vt:lpstr>Islamic Ethics and Religious Practices </vt:lpstr>
      <vt:lpstr>Islamic Ethics and Religious Practices </vt:lpstr>
      <vt:lpstr>Female Genital Mutilation </vt:lpstr>
      <vt:lpstr>FGM &amp; Islam</vt:lpstr>
      <vt:lpstr>Influential Muslim Groups</vt:lpstr>
      <vt:lpstr>Influential Muslim Groups</vt:lpstr>
      <vt:lpstr>Influential Muslim Groups</vt:lpstr>
      <vt:lpstr>Influential Muslim Groups</vt:lpstr>
      <vt:lpstr>Influential Muslim Groups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Islam</dc:title>
  <dc:creator>Steve Austin</dc:creator>
  <cp:lastModifiedBy>Steve Austin</cp:lastModifiedBy>
  <cp:revision>52</cp:revision>
  <dcterms:created xsi:type="dcterms:W3CDTF">2019-11-13T13:58:10Z</dcterms:created>
  <dcterms:modified xsi:type="dcterms:W3CDTF">2025-12-02T16:06:28Z</dcterms:modified>
</cp:coreProperties>
</file>