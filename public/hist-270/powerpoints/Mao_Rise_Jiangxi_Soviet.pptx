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 270 — History of China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25  |  1927–1949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Mao Zedong's Rise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the Jiangxi Soviet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8321040" cy="0"/>
          </a:xfrm>
          <a:prstGeom prst="line">
            <a:avLst/>
          </a:prstGeom>
          <a:noFill/>
          <a:ln w="19050">
            <a:solidFill>
              <a:srgbClr val="9B1D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0175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Village Schoolboy to Paramount Leader  ·  1893–1934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&amp; Revolution, China (1927–1949)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194560" cy="292608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Covering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" cy="411480"/>
          </a:xfrm>
          <a:prstGeom prst="ellipse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Life &amp; Formation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6276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Hunan peasant origins, self-education, 1911 Revolution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11480" cy="411480"/>
          </a:xfrm>
          <a:prstGeom prst="ellipse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the CCP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1762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Fourth era, Marxist study groups, 1921 founding congress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411480" cy="411480"/>
          </a:xfrm>
          <a:prstGeom prst="ellipse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468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Shanghai Terror &amp; Aftermath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7249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Chiang's 1927 purge crushes urban labor base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417320"/>
            <a:ext cx="411480" cy="411480"/>
          </a:xfrm>
          <a:prstGeom prst="ellipse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780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Retreat to Jinggangshan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0" y="16276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stronghold, rural strategy, guerrilla theory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965960"/>
            <a:ext cx="411480" cy="411480"/>
          </a:xfrm>
          <a:prstGeom prst="ellipse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1920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Jiangxi Soviet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21762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revolution, class analysis, Nationalist encirclement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514600"/>
            <a:ext cx="411480" cy="411480"/>
          </a:xfrm>
          <a:prstGeom prst="ellipse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468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March Begins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27249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1934, road to Zunyi and Yan'an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194560" cy="292608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EARLY LIFE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Shaoshan to Changsha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1893–1918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1554480"/>
            <a:ext cx="0" cy="3291840"/>
          </a:xfrm>
          <a:prstGeom prst="line">
            <a:avLst/>
          </a:prstGeom>
          <a:noFill/>
          <a:ln w="19050">
            <a:solidFill>
              <a:srgbClr val="9B1D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618488"/>
            <a:ext cx="237744" cy="23774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5544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554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in Shaoshan, Hunan — farming village ~30 miles from Changsha. Began helping on father's 3-acre farm at age 6.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" y="2167128"/>
            <a:ext cx="237744" cy="23774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1031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local primary school. Studies for 6 years. At 14, betrothed to an 18-year-old neighbor; she dies in 1910.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" y="2715768"/>
            <a:ext cx="237744" cy="23774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6517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30 miles to Changsha for middle school. October: 1911 Revolution erupts. Mao briefly joins republican army, then quits to read at the provincial library.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1248" y="3264408"/>
            <a:ext cx="237744" cy="23774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200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200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 in Hunan Provincial Fourth Normal School. Meets Yang Changji — philosopher, social scientist, returned student from Japan/Britain/Germany. Yang reshapes Mao's thinking.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41248" y="3813048"/>
            <a:ext cx="237744" cy="23774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749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3749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article on physical education in New Youth. Becomes fascinated by Western writers: Rousseau, J.S. Mill, Adam Smith, Darwin.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1248" y="4361688"/>
            <a:ext cx="237744" cy="23774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297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42976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Graduates. Follows Yang Changji to Beijing University — gets job as library clerk under Li Dazhao.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194560" cy="292608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JOINING THE CCP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Clerk to Communist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1918–1921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54864" cy="3108960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Library Clerk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under Li Dazhao — four years Mao's senior, already famous in intellectual circles. Li Dazhao writes about Marxism and the Russian Revolution for New Youth.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Arrival to Marxism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529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until 1920 does Mao show particular interest in Marxism — partly from letters from fellow students who had gone to France for work-study programs.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May Fourth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8587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Hunan before the May Fourth protests (1919). Takes a teaching job, starts his own magazine, organizes the Hunan United Students Association, leads a strike of 13,000 middle school students against the local warlord.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4114800" cy="3246120"/>
          </a:xfrm>
          <a:prstGeom prst="rect">
            <a:avLst/>
          </a:prstGeom>
          <a:solidFill>
            <a:srgbClr val="2E2E3E"/>
          </a:solidFill>
          <a:ln w="19050">
            <a:solidFill>
              <a:srgbClr val="9B1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D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CCP Founded — July 1921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delegates meet secretly in Shanghai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Comintern funding and guidance from 1920 onward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8437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Duxiu elected Secretary General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1912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Mao: one of two delegates from Hunan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538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structure: democratic centralism — decisions flow up, commands flow down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886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organizing labor unions in cities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42336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Nationalist Party (GMD) in 1923 per Comintern orders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2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194560" cy="292608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THE TERROR OF 1927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Shanghai Massacre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April 1927 — The United Front Collapses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97480" cy="3246120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21: Nationalist army nears Shanghai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66090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Communist-led General Labor Union calls general strike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1729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600,000+ workers respond — seize the city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6850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11: Union leader invited to home of Green Gang boss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41970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murdered at the meeting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600200"/>
            <a:ext cx="2697480" cy="3246120"/>
          </a:xfrm>
          <a:prstGeom prst="rect">
            <a:avLst/>
          </a:prstGeom>
          <a:solidFill>
            <a:srgbClr val="7B0D1E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6916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Massacre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2148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12: Green Gang + Nationalist soldiers attack union HQ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266090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guns mow down civilians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37560" y="31729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 killed in Shanghai alone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36850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Terror spreads to Guangzhou, Wuhan, other cities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41970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 labor base utterly destroyed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1600200"/>
            <a:ext cx="2697480" cy="3246120"/>
          </a:xfrm>
          <a:prstGeom prst="rect">
            <a:avLst/>
          </a:prstGeom>
          <a:solidFill>
            <a:srgbClr val="3D1A24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6916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Aftermath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2148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Membership: 60,000 → fewer than 10,000 within the year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72200" y="266090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Comintern blames Chen Duxiu — expels him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2200" y="31729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 leadership driven underground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72200" y="36850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urban uprisings in 1927–1928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72200" y="41970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retreat to rural hinterlands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194560" cy="292608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JINGGANGSHAN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the Mountains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October 1927 — The Rural Pivot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822960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6420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"Political power is obtained from the barrel of the gun."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Mao Zedong, 1927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54864" cy="2194560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Mountain Stronghold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1927: Mao leads ~1,000 remaining peasant followers into Jinggangshan — a mountain lair on the Hunan–Jiangxi border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location: outside easy reach of either province's authorities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Recruits He Zizhen (age 19, from nearby landlord family) — they become partners; child born in 1929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contact with Yang Kaihui (wife in Changsha) and the party hierarchy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leadership in Shanghai condemns his rural strategy — he ignores them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606040"/>
            <a:ext cx="54864" cy="2194560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Revolutionary Theory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9718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 reinterprets Marxism: peasants — not the proletariat — are the vanguard of China's revolution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Cadres must go among the peasants and learn from them before they can lead them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and political power are inseparable; armed peasants are both fighters and reformers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redistribution (all land of the rich and able-bodied) builds loyalty but strains supply lines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"Surround the cities from the countryside" — the model that will eventually win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194560" cy="292608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THE JIANGXI SOVIET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State Within a State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1929–1934  ·  Jiangxi–Fujian Border Region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011680" cy="777240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276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Jiangxi Soviet established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600200"/>
            <a:ext cx="2011680" cy="777240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6276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yrs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0" y="2057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before Long March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2011680" cy="777240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276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Xunwu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study: class analysis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1600200"/>
            <a:ext cx="2011680" cy="777240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6276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49440" y="2057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Nationalist encirclement campaigns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514600"/>
            <a:ext cx="54864" cy="2331720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14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Revolution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88036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Redistribution: all land of rich and able-bodied re-divided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Mao's Xunwu County study classifies population: landlords, rich peasants, middle peasants, poor peasants, hired hands, loafers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majority fall into 'poor peasant or lower' category — natural constituency for redistribution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records literacy rates, postal service, shops — a total social census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514600"/>
            <a:ext cx="54864" cy="2331720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514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Politics &amp; Struggle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288036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Committee in Shanghai initially condemns Mao's rural focus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1932: CC joins Mao in Jiangxi — but sidelines him; recommendations often overruled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1930: Nationalists arrest and shoot Yang Kaihui (Mao's first wife); three young sons sent to Shanghai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Ming faction (Soviet-trained) pushes positional warfare against Mao's guerrilla strategy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514600"/>
            <a:ext cx="54864" cy="2331720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514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Encirclement Campaigns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288036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Chiang launches five 'extermination campaigns' 1930–1934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four repulsed using Mao's mobile guerrilla tactics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Fifth campaign (1934): 1 million Nationalist troops with German advisers and blockhouse strategy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adopts positional defense over Mao's objections — catastrophic losses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1934: decision to abandon Jiangxi Soviet and break out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194560" cy="292608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THE LONG MARCH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Breakout — October 1934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914400"/>
          </a:xfrm>
          <a:prstGeom prst="rect">
            <a:avLst/>
          </a:prstGeom>
          <a:solidFill>
            <a:srgbClr val="2E2E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89888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~86,000 soldiers, cadres, porters, and followers break through the Nationalist encirclement. Most wives and children are left behind — only 35 women join the march. Mao's wife He Zizhen is allowed to come, but their 2-year-old son is left with Mao's brother, who is later killed in 1935. Month after month the Red Army retreats, often just steps ahead of Nationalist troops.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8229600" cy="0"/>
          </a:xfrm>
          <a:prstGeom prst="line">
            <a:avLst/>
          </a:prstGeom>
          <a:noFill/>
          <a:ln w="25400">
            <a:solidFill>
              <a:srgbClr val="9B1D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2724912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-9144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1934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-182880" y="3017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Jiangxi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-228600" y="32918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begins — ~86,000 depart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67712" y="2724912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1935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Zunyi, Guizhou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32918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Zunyi Conference: Mao elevated to Standing Committee; given military responsibility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96512" y="2724912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Mid-1935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3017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Tibet borders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32918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Brutal cold, rugged terrain; massive casualties; skirting the Tibetan plateau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25312" y="2724912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1935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0" y="3017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Shaanxi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57800" y="32918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~8,000 of original marchers arrive; new recruits bring total to ~20,000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54112" y="2724912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1936–1946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0" y="3017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Yan'an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86600" y="32918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established; Edgar Snow visits; the Yan'an myth is born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March covered nearly 10,000 km. Only ~8,000 of the original 86,000 completed it — yet survivors saw it as a sacred trial that proved they were men of destiny.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194560" cy="292608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Questions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804672"/>
          </a:xfrm>
          <a:prstGeom prst="rect">
            <a:avLst/>
          </a:prstGeom>
          <a:solidFill>
            <a:srgbClr val="2E2E3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804672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2646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Mao's rural strategy brilliant — or just the only option left?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CCP's urban labor base was obliterated in 1927. Was Maoism a creative theoretical breakthrough, or a pragmatic adaptation to defeat?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67712"/>
            <a:ext cx="8412480" cy="804672"/>
          </a:xfrm>
          <a:prstGeom prst="rect">
            <a:avLst/>
          </a:prstGeom>
          <a:solidFill>
            <a:srgbClr val="2525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67712"/>
            <a:ext cx="64008" cy="804672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2257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crucial was Mao personally to the party's survival?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15184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Comintern-backed CC repeatedly overruled Mao. The fourth encirclement campaign (under Mao's guerrilla tactics) succeeded. The fifth (under CC's positional strategy) failed catastrophically.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163824"/>
            <a:ext cx="8412480" cy="804672"/>
          </a:xfrm>
          <a:prstGeom prst="rect">
            <a:avLst/>
          </a:prstGeom>
          <a:solidFill>
            <a:srgbClr val="2E2E3E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63824"/>
            <a:ext cx="64008" cy="804672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1868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'land revolution' mean to the peasants of Jiangxi?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511296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Mao's Xunwu study found that the vast majority were poor peasants or lower. Redistribution promised them land — but Nationalist reprisals and the chaos of the Soviet period also brought enormous suffering.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059936"/>
            <a:ext cx="8412480" cy="804672"/>
          </a:xfrm>
          <a:prstGeom prst="rect">
            <a:avLst/>
          </a:prstGeom>
          <a:solidFill>
            <a:srgbClr val="2525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059936"/>
            <a:ext cx="64008" cy="804672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1480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Long March become a founding myth rather than an admission of defeat?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40740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survivors of Zunyi and Shaanxi built an identity around hardship overcome. How do revolutionary movements transform catastrophe into sacred narrative?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74320" y="2057400"/>
            <a:ext cx="3749040" cy="0"/>
          </a:xfrm>
          <a:prstGeom prst="line">
            <a:avLst/>
          </a:prstGeom>
          <a:noFill/>
          <a:ln w="12700">
            <a:solidFill>
              <a:srgbClr val="F5EDD8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240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Mao's rural origins and self-education shaped his instinct for peasant mobilization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2788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CCP was born in cities — but the 1927 massacre forced it to become a rural movement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Jiangxi Soviet was a laboratory: land reform, class analysis, guerrilla warfare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3886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encirclement campaigns ended with the Long March — a catastrophe reframed as destiny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4434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Zunyi (1935) marks Mao's emergence as paramount leader — the most important meeting the CCP ever held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0" y="457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Looking Ahead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480560" y="914400"/>
            <a:ext cx="438912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005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Yan'an Years (1936–1945)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141732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 consolidates leadership in the Yan'an base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Rectification campaigns enforce ideological conformity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Shiwei's Wild Lilies exposes CCP privilege — he is executed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Seventh Party Congress (1945) formally enshrines Mao Zedong Thought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 is set for the final Civil War, 1947–1949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3840480"/>
            <a:ext cx="4389120" cy="1005840"/>
          </a:xfrm>
          <a:prstGeom prst="rect">
            <a:avLst/>
          </a:prstGeom>
          <a:solidFill>
            <a:srgbClr val="2E2E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9136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3440" y="41605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 Zedong Thought (毛泽东思想): the adaptation of Marxism-Leninism to Chinese conditions — emphasizing peasants as the revolutionary vanguard, the primacy of the will, and the mass line.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Mao Zedong's Rise and the Jiangxi Soviet</dc:title>
  <dc:subject>PptxGenJS Presentation</dc:subject>
  <dc:creator>HIST 270 — History of China</dc:creator>
  <cp:lastModifiedBy>HIST 270 — History of China</cp:lastModifiedBy>
  <cp:revision>1</cp:revision>
  <dcterms:created xsi:type="dcterms:W3CDTF">2026-04-24T17:56:01Z</dcterms:created>
  <dcterms:modified xsi:type="dcterms:W3CDTF">2026-04-24T17:56:01Z</dcterms:modified>
</cp:coreProperties>
</file>